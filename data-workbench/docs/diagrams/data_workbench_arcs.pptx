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800" y="0"/>
            <a:ext cx="414528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AAAAAA"/>
                </a:solidFill>
              </a:rPr>
              <a:t>Intro — What is Data Workbench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78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18666" cy="778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53533"/>
            <a:ext cx="12192000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9466" y="67734"/>
            <a:ext cx="2133586" cy="4571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E293B"/>
                </a:solidFill>
              </a:rPr>
              <a:t>Data Workbench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9466" y="465667"/>
            <a:ext cx="4861473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An AI-powered platform for building, governing, and publishing enterprise data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5615" y="211667"/>
            <a:ext cx="2346918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1E293B"/>
                </a:solidFill>
              </a:rPr>
              <a:t>AI-Powered  ·  Human-Governed  ·  AI-Ready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8176" y="423333"/>
            <a:ext cx="218435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1E293B"/>
                </a:solidFill>
              </a:rPr>
              <a:t>Engineering Workbench  +  Product Workbench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666" y="846666"/>
            <a:ext cx="2794000" cy="3488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666" y="846666"/>
            <a:ext cx="2794000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999" y="990600"/>
            <a:ext cx="1518897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What is Data Workbench?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999" y="1236134"/>
            <a:ext cx="193036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 workbench where AI agents and humans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999" y="1380067"/>
            <a:ext cx="223515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collaborate to build governed data products.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999" y="1524000"/>
            <a:ext cx="208275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Agent skills automate the heavy lifting 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999" y="1667933"/>
            <a:ext cx="198116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engineers and product owners review 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999" y="1811867"/>
            <a:ext cx="111757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approve at every step.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999" y="2175933"/>
            <a:ext cx="111758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Two Workbench Shells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199" y="2455333"/>
            <a:ext cx="2556933" cy="491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5733" y="2523067"/>
            <a:ext cx="106677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Engineering Workbench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5733" y="2667000"/>
            <a:ext cx="1508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AI pipeline: discover → profile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5733" y="2794000"/>
            <a:ext cx="1051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map → quality → publish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199" y="3031066"/>
            <a:ext cx="2556933" cy="491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733" y="3098800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Product Workbench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5733" y="3242733"/>
            <a:ext cx="1417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Design products contract-first,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5733" y="3369733"/>
            <a:ext cx="1600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validate and publish to 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999" y="3733800"/>
            <a:ext cx="838185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Knowledge 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999" y="3903133"/>
            <a:ext cx="1325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Neo4j: all assets, semantics,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999" y="4038599"/>
            <a:ext cx="1508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lineage &amp; provenance in one graph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34266" y="846666"/>
            <a:ext cx="4258733" cy="16763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34266" y="846666"/>
            <a:ext cx="42587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34266" y="1015999"/>
            <a:ext cx="4258733" cy="5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18933" y="905933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54399" y="905933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589866" y="905933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59199" y="905933"/>
            <a:ext cx="35983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39266" y="1498600"/>
            <a:ext cx="440266" cy="287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74733" y="1566333"/>
            <a:ext cx="169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18021" y="1803400"/>
            <a:ext cx="208275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Engineering Workbench — Pipeline &amp; Stages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1508" y="1955800"/>
            <a:ext cx="2275784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Suggest: project list with pipeline stage progress chips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94599" y="846666"/>
            <a:ext cx="4258733" cy="16763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94599" y="846666"/>
            <a:ext cx="42587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94599" y="1015999"/>
            <a:ext cx="4258733" cy="5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79266" y="905933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14733" y="905933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50199" y="905933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19533" y="905933"/>
            <a:ext cx="35983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99600" y="1498600"/>
            <a:ext cx="440266" cy="287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35066" y="1566333"/>
            <a:ext cx="169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10145" y="1803400"/>
            <a:ext cx="121917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Knowledge Graph Explorer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6314" y="1955800"/>
            <a:ext cx="1706838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Suggest: Neo4j browser graph visualization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34266" y="2607733"/>
            <a:ext cx="8619066" cy="17271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34266" y="2607733"/>
            <a:ext cx="8619066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34266" y="2777066"/>
            <a:ext cx="8619066" cy="5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318933" y="2667000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54399" y="2667000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589866" y="2667000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59199" y="2667000"/>
            <a:ext cx="7958666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23666" y="3285066"/>
            <a:ext cx="440266" cy="287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9133" y="3352799"/>
            <a:ext cx="169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48425" y="3589867"/>
            <a:ext cx="259074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Product Workbench — Marketplace &amp; Product Authoring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83990" y="3742266"/>
            <a:ext cx="2519618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Suggest: product wizard OR published marketplace product cards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666" y="4360334"/>
            <a:ext cx="792468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Key Features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8666" y="4538133"/>
            <a:ext cx="914399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38666" y="4639733"/>
            <a:ext cx="2218266" cy="2099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38666" y="4639733"/>
            <a:ext cx="2218266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199" y="4741334"/>
            <a:ext cx="111757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Agent-Powered Pipeline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199" y="4902200"/>
            <a:ext cx="1325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20+ AI agent skills built for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199" y="5029200"/>
            <a:ext cx="1325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 engineering — discovery,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199" y="5156200"/>
            <a:ext cx="12801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profiling, mapping, quality,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58533" y="4639733"/>
            <a:ext cx="2218266" cy="2099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658533" y="4639733"/>
            <a:ext cx="2218266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77066" y="4741334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Human-in-the-Loop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77066" y="4902200"/>
            <a:ext cx="12801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Every AI output reviewed and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77066" y="5029200"/>
            <a:ext cx="12801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approved before it persists.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77066" y="5156200"/>
            <a:ext cx="1463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Provenance tracked at each step.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78400" y="4639733"/>
            <a:ext cx="2218266" cy="2099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978400" y="4639733"/>
            <a:ext cx="2218266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96933" y="4741334"/>
            <a:ext cx="106677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Data Contracts (ODCS)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96933" y="4902200"/>
            <a:ext cx="1463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Every product carries a machine-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96933" y="5029200"/>
            <a:ext cx="1508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readable contract: schema, rules,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96933" y="5156200"/>
            <a:ext cx="1508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lineage, and governance built in.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98266" y="4639733"/>
            <a:ext cx="2218266" cy="2099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298266" y="4639733"/>
            <a:ext cx="2218266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16799" y="4741334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Two Product Types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16799" y="4902200"/>
            <a:ext cx="1463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Source-aligned: certify existing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16799" y="5029200"/>
            <a:ext cx="12801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databases. Consumer-aligned: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16799" y="5156200"/>
            <a:ext cx="1325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design for your AI use cases.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618133" y="4639733"/>
            <a:ext cx="2218266" cy="2099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618133" y="4639733"/>
            <a:ext cx="2218266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736666" y="4741334"/>
            <a:ext cx="147317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Marketplace &amp; Discoverability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36666" y="4902200"/>
            <a:ext cx="1325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Published products searchable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36666" y="5029200"/>
            <a:ext cx="1234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and consumable by AI agents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36666" y="5156200"/>
            <a:ext cx="1463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and teams across the enterprise.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800" y="0"/>
            <a:ext cx="414528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AAAAAA"/>
                </a:solidFill>
              </a:rPr>
              <a:t>How It Works — Agent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78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18666" cy="778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53533"/>
            <a:ext cx="12192000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9466" y="101600"/>
            <a:ext cx="3169896" cy="396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</a:rPr>
              <a:t>How Data Workbench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9466" y="465667"/>
            <a:ext cx="5755537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Three lifecycle phases — AI does the heavy lifting, humans provide judgment and approval at every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5615" y="211667"/>
            <a:ext cx="2346918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1E293B"/>
                </a:solidFill>
              </a:rPr>
              <a:t>From raw database to AI-ready data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0573" y="423333"/>
            <a:ext cx="203196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1E293B"/>
                </a:solidFill>
              </a:rPr>
              <a:t>Governed  ·  Contracted  ·  Discoverable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666" y="846666"/>
            <a:ext cx="3759199" cy="3183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666" y="846666"/>
            <a:ext cx="3759199" cy="3725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666" y="1168400"/>
            <a:ext cx="3759199" cy="5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266" y="931333"/>
            <a:ext cx="440266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380" y="956733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133" y="931333"/>
            <a:ext cx="1188702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Discover &amp;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133" y="1236134"/>
            <a:ext cx="325113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AI agents scan your source databases, build the knowledge graph,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133" y="1524000"/>
            <a:ext cx="60958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Agent Skills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199" y="1744133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199" y="1744133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1866" y="1769533"/>
            <a:ext cx="1691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data-discovery — schema, columns, FKs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199" y="1930399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199" y="1930399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1866" y="1955799"/>
            <a:ext cx="2011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data-profiling — row counts, patterns, types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199" y="2116666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199" y="2116666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1866" y="2142066"/>
            <a:ext cx="2057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metadata-enrichment — AI-written descriptions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199" y="2302933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199" y="2302933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866" y="2328333"/>
            <a:ext cx="1920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column-name-standardization — naming rules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199" y="2489200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199" y="2489200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1866" y="2514600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data-quality-rule-generation — observation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4133" y="3539067"/>
            <a:ext cx="50799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Human Role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133" y="3682999"/>
            <a:ext cx="2148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 Engineer: review AI-generated descriptions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133" y="3801533"/>
            <a:ext cx="1691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and approve or edit recommended names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16400" y="846666"/>
            <a:ext cx="3759199" cy="3183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16400" y="846666"/>
            <a:ext cx="3759199" cy="3725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16400" y="1168400"/>
            <a:ext cx="3759199" cy="5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18000" y="931333"/>
            <a:ext cx="440266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8113" y="956733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Phase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59866" y="931333"/>
            <a:ext cx="1122663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Design &amp; Contract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51866" y="1236134"/>
            <a:ext cx="330193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Product Owner designs the data product; ODCS contract is authored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51866" y="1524000"/>
            <a:ext cx="60958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Agent Skills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34933" y="1744133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34933" y="1744133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19600" y="1769533"/>
            <a:ext cx="2103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odcs-specification — contract authoring wizard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34933" y="1930399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34933" y="1930399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19600" y="1955799"/>
            <a:ext cx="2057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domain-rule-enhancement — catalog-based rules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34933" y="2116666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34933" y="2116666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19600" y="2142066"/>
            <a:ext cx="2057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data-mapping-neo4j — source-to-target mapping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34933" y="2302933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34933" y="2302933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19600" y="2328333"/>
            <a:ext cx="2011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source-product-validation — PO approval gate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34933" y="2489200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34933" y="2489200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19600" y="2514600"/>
            <a:ext cx="2057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data-product-schema-advisor — column guidance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51866" y="3539067"/>
            <a:ext cx="50799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Human Role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51866" y="3682999"/>
            <a:ext cx="2011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Product Owner: validate names, descriptions,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51866" y="3801533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schema and approve observation rules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94133" y="846666"/>
            <a:ext cx="3759199" cy="3183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94133" y="846666"/>
            <a:ext cx="3759199" cy="3725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94133" y="1168400"/>
            <a:ext cx="3759199" cy="5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95733" y="931333"/>
            <a:ext cx="440266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55846" y="956733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Phase 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37600" y="931333"/>
            <a:ext cx="990585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Serve &amp; Publish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599" y="1236134"/>
            <a:ext cx="330193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Virtual serving views generated; product published to marketplace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599" y="1524000"/>
            <a:ext cx="60958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Agent Skills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12666" y="1744133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2666" y="1744133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97333" y="1769533"/>
            <a:ext cx="2148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odcs-to-dprod — materialise product graph nodes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12666" y="1930399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212666" y="1930399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97333" y="1955799"/>
            <a:ext cx="2148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data-serving-virtual-view — SQL view generation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12666" y="2116666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212666" y="2116666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7333" y="2142066"/>
            <a:ext cx="1965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data-quality-testing — test suite execution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12666" y="2302933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212666" y="2302933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97333" y="2328333"/>
            <a:ext cx="1920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data-product-scoring — OSI readiness score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212666" y="2489200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212666" y="2489200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7333" y="2514600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marketplace-publish — discovery + AI consumption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599" y="3539067"/>
            <a:ext cx="50799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Human Role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599" y="3682999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 Engineer: review serving views,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599" y="3801533"/>
            <a:ext cx="1508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confirm deployment to marketplace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38666" y="4114799"/>
            <a:ext cx="11514666" cy="677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38666" y="4114799"/>
            <a:ext cx="11514666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38666" y="4284133"/>
            <a:ext cx="11514666" cy="5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23333" y="4174066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58800" y="4174066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94266" y="4174066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63599" y="4174066"/>
            <a:ext cx="10854266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875866" y="4267200"/>
            <a:ext cx="440266" cy="287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011333" y="4334933"/>
            <a:ext cx="169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140239" y="4572000"/>
            <a:ext cx="391152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Suggest: Mapping Review Panel — AI column mappings awaiting engineer approval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03092" y="4724400"/>
            <a:ext cx="418581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Shows human-in-the-loop review: source → target column mappings with transform logic and quality rating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8666" y="4800600"/>
            <a:ext cx="792468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What You Get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38666" y="4978400"/>
            <a:ext cx="829733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38666" y="5080000"/>
            <a:ext cx="2785533" cy="165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38666" y="5080000"/>
            <a:ext cx="2785533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7199" y="5181600"/>
            <a:ext cx="111757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Governed Data Products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7199" y="5342466"/>
            <a:ext cx="17373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Every product carries an ODCS contract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7199" y="5469466"/>
            <a:ext cx="1828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with schema, quality rules, and lineage.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199" y="5596466"/>
            <a:ext cx="17373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Governance is built in, not bolted on.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42733" y="5080000"/>
            <a:ext cx="2785533" cy="165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242733" y="5080000"/>
            <a:ext cx="2785533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361266" y="5181600"/>
            <a:ext cx="96518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AI-Ready Foundation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361266" y="5342466"/>
            <a:ext cx="1783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Certified products that AI applications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61266" y="5469466"/>
            <a:ext cx="1600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can trust and reason over reliably.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361266" y="5596466"/>
            <a:ext cx="1874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Semantic layer connects data to concepts.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46800" y="5080000"/>
            <a:ext cx="2785533" cy="165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146800" y="5080000"/>
            <a:ext cx="2785533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65333" y="5181600"/>
            <a:ext cx="126997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Full Lineage &amp; Provenance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265333" y="5342466"/>
            <a:ext cx="1828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Every transformation, approval, and edit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65333" y="5469466"/>
            <a:ext cx="17373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captured in the Neo4j knowledge graph.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65333" y="5596466"/>
            <a:ext cx="17373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Know where every data field came from.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050866" y="5080000"/>
            <a:ext cx="2785533" cy="165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050866" y="5080000"/>
            <a:ext cx="2785533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69400" y="5181600"/>
            <a:ext cx="137157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Marketplace Discoverability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69400" y="5342466"/>
            <a:ext cx="1828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Products published and searchable across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169400" y="5469466"/>
            <a:ext cx="17373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teams and AI agents in the enterprise.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69400" y="5596466"/>
            <a:ext cx="1920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Source and consumer products cross-linked.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800" y="0"/>
            <a:ext cx="414528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AAAAAA"/>
                </a:solidFill>
              </a:rPr>
              <a:t>Arc 1 v1 — AI Readiness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94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50800"/>
            <a:ext cx="6817299" cy="3352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293B"/>
                </a:solidFill>
              </a:rPr>
              <a:t>Algorithms are off the shelf. Differentiation is in the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397933"/>
            <a:ext cx="629907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77% of D&amp;A leaders cite AI-ready data as a top-5 investment priority.  Only 9% have a functioning data readiness assessment.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" y="660400"/>
            <a:ext cx="1015999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666" y="61806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THE AI READINESS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5333" y="618066"/>
            <a:ext cx="12801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HOW DATA WORKBENCH CLOSES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666" y="778933"/>
            <a:ext cx="5689600" cy="440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66" y="812800"/>
            <a:ext cx="2986998" cy="21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E293B"/>
                </a:solidFill>
              </a:rPr>
              <a:t>"You have a database, not a data product."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66" y="1041400"/>
            <a:ext cx="2057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— Tony Giordano, Data Workbench Practice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666" y="1303866"/>
            <a:ext cx="5689600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666" y="1303866"/>
            <a:ext cx="33866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999" y="1320800"/>
            <a:ext cx="396237" cy="396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</a:rPr>
              <a:t>83%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999" y="1667933"/>
            <a:ext cx="3408619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of organizations don't develop business-aligned data 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999" y="1828800"/>
            <a:ext cx="375912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Most enterprise data exists as raw, undocumented tables — invisible to AI,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999" y="1947333"/>
            <a:ext cx="309873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lacking business context, and unfit for governed consumption.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666" y="2353733"/>
            <a:ext cx="5689600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666" y="2353733"/>
            <a:ext cx="33866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999" y="2370667"/>
            <a:ext cx="264158" cy="396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</a:rPr>
              <a:t>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999" y="2717800"/>
            <a:ext cx="2626313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have a functioning AI data readiness 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999" y="2878667"/>
            <a:ext cx="380992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Organizations are planning AI initiatives without knowing which data assets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999" y="2997200"/>
            <a:ext cx="386072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are ready to support them. The gap between ambition and readiness stalls AI.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666" y="3403599"/>
            <a:ext cx="5689600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666" y="3403599"/>
            <a:ext cx="33866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999" y="3530600"/>
            <a:ext cx="3566106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Semantic fragmentation causes AI to reason incorrectly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999" y="3776133"/>
            <a:ext cx="325113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"Customer", "Client", "Account" — conflicting definitions across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999" y="3894667"/>
            <a:ext cx="309873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teams cause AI to hallucinate business answers in production.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5333" y="778933"/>
            <a:ext cx="5588000" cy="1337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5333" y="778933"/>
            <a:ext cx="5588000" cy="253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3866" y="804333"/>
            <a:ext cx="213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DISCOVER &amp; UNDERSTAND AUTOMATICALLY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7733" y="1075267"/>
            <a:ext cx="2961587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Agent skills scan every schema, profile every column,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7733" y="1205653"/>
            <a:ext cx="2849829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and write business descriptions from data patterns.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7733" y="1336040"/>
            <a:ext cx="3073345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Hours to a complete, governed semantic knowledge graph.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7733" y="1896533"/>
            <a:ext cx="2641535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Skills: data-discovery  ·  data-profiling  ·  metadata-enrichment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5333" y="2269066"/>
            <a:ext cx="5588000" cy="1337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5333" y="2269066"/>
            <a:ext cx="5588000" cy="253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3866" y="2294466"/>
            <a:ext cx="1584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CONTRACT, GOVERN &amp; QUALIFY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7733" y="2565400"/>
            <a:ext cx="3464498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ODCS data contracts encode business rules, quality thresholds,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7733" y="2695786"/>
            <a:ext cx="1844007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and lineage for every data asset.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7733" y="2826173"/>
            <a:ext cx="3520377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Domain knowledge catalogs pre-load governance rules per domain.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7733" y="3386666"/>
            <a:ext cx="2600896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Skills: domain-rule-enhancement  ·  data-quality-rule-generation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5333" y="3759199"/>
            <a:ext cx="5588000" cy="1337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5333" y="3759199"/>
            <a:ext cx="5588000" cy="253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3866" y="3784599"/>
            <a:ext cx="121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MAP, SERVE &amp; PUBLISH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7733" y="4055533"/>
            <a:ext cx="3296861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AI maps source columns to target schemas with full lineage.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7733" y="4185920"/>
            <a:ext cx="3017466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Virtual serving views generated, tested, and deployed.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7733" y="4316306"/>
            <a:ext cx="3464498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Published to a searchable data marketplace — days, not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7733" y="4876800"/>
            <a:ext cx="296664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Skills: data-mapping-neo4j  ·  data-serving-virtual-view  ·  data-scoring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5858933"/>
            <a:ext cx="12192000" cy="999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94560" y="5977466"/>
            <a:ext cx="780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</a:rPr>
              <a:t>"By 2027, organizations prioritizing semantics in AI-ready data will achieve 80% higher agentic AI accuracy and 60% lower cost."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27120" y="6223000"/>
            <a:ext cx="4937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Gartner  ·  Prioritize Semantics to Overcome the Agentic Contextualization Gap  ·  May 2026  ·  ID G00852605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81445" y="6510866"/>
            <a:ext cx="502911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</a:rPr>
              <a:t>The question isn't whether to build data products. It's whether you can do it fast enough.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800" y="0"/>
            <a:ext cx="414528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AAAAAA"/>
                </a:solidFill>
              </a:rPr>
              <a:t>Arc 1 v2 — AI Builds the 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94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88920" y="42333"/>
            <a:ext cx="661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</a:rPr>
              <a:t>We use AI to build the data foundation. So AI can build on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4864" y="389467"/>
            <a:ext cx="650227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1E293B"/>
                </a:solidFill>
              </a:rPr>
              <a:t>AI agent innovation applied to the domain of data engineering — building the certified foundation that enterprise AI depends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3333" y="660400"/>
            <a:ext cx="1185333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666" y="778933"/>
            <a:ext cx="4233333" cy="46905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666" y="778933"/>
            <a:ext cx="4233333" cy="304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" y="821267"/>
            <a:ext cx="1981170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AI APPLIED TO DATA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133" y="1134534"/>
            <a:ext cx="330193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Data Workbench applies AI agent innovation to the domain of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133" y="1261534"/>
            <a:ext cx="309873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Purpose-built agent skills that do the data engineering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133" y="1557866"/>
            <a:ext cx="25400" cy="38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666" y="1583266"/>
            <a:ext cx="894064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Schema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666" y="1735666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Agents scan every table, column, FK, index · hours not weeks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133" y="2167466"/>
            <a:ext cx="25400" cy="38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666" y="2192867"/>
            <a:ext cx="782306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Data Profiling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666" y="2345266"/>
            <a:ext cx="2697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Statistical patterns, nulls, cardinality, anomaly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133" y="2777066"/>
            <a:ext cx="25400" cy="38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2666" y="2802467"/>
            <a:ext cx="1061701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Metadata Enrichment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666" y="2954866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AI writes business descriptions · human approves or corrects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4133" y="3386666"/>
            <a:ext cx="25400" cy="38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2666" y="3412066"/>
            <a:ext cx="1061701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Intelligent Mapping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666" y="3564466"/>
            <a:ext cx="2834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Source→target column mapping with full lineage · human reviews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4133" y="3996266"/>
            <a:ext cx="25400" cy="38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2666" y="4021666"/>
            <a:ext cx="949943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Quality Assurance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666" y="4174066"/>
            <a:ext cx="2788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Domain rules from catalogs · observation rules from profiling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4133" y="4605866"/>
            <a:ext cx="25400" cy="38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2666" y="4631267"/>
            <a:ext cx="838185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Serve &amp; Publish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666" y="4783666"/>
            <a:ext cx="2697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Virtual views + ODCS contract + marketplace listing in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199" y="4995333"/>
            <a:ext cx="3996266" cy="3725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5733" y="5054600"/>
            <a:ext cx="3337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Human-in-the-loop at every step  ·  Active Learning  ·  PROV-O Provenance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5733" y="5190066"/>
            <a:ext cx="3291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Every approval improves future runs.  Every rejection trains the system.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373" y="2946400"/>
            <a:ext cx="274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builds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1446" y="2946400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enables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9066" y="778933"/>
            <a:ext cx="2573866" cy="46905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09066" y="778933"/>
            <a:ext cx="2573866" cy="304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27600" y="812800"/>
            <a:ext cx="924547" cy="21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E293B"/>
                </a:solidFill>
              </a:rPr>
              <a:t>DATA PRODUCTS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33060" y="1151466"/>
            <a:ext cx="1325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Output of agent work on data.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73040" y="1278466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Foundation enterprise AI depends 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44533" y="1490133"/>
            <a:ext cx="1117600" cy="9143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83293" y="1566333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SOURCE-ALIGNED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6624" y="1701800"/>
            <a:ext cx="853419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Certify what you have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1828800"/>
            <a:ext cx="812780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· Existing databases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1964266"/>
            <a:ext cx="853419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· Profiled &amp; governed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2099733"/>
            <a:ext cx="894058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· Contract synthesized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9866" y="1490133"/>
            <a:ext cx="1117600" cy="9143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2906" y="1566333"/>
            <a:ext cx="731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CONSUMER-ALIGNED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2596" y="1701800"/>
            <a:ext cx="772141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Build what you need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4533" y="1828800"/>
            <a:ext cx="93469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· Contract-first schema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4533" y="1964266"/>
            <a:ext cx="568946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· Agent-mapped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4533" y="2099733"/>
            <a:ext cx="93469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· Marketplace-published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44533" y="2489200"/>
            <a:ext cx="728133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05405" y="2514600"/>
            <a:ext cx="406390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Contracted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23466" y="2489200"/>
            <a:ext cx="728133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24977" y="2514600"/>
            <a:ext cx="325112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Governed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02400" y="2489200"/>
            <a:ext cx="728133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03910" y="2514600"/>
            <a:ext cx="325112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AI-Ready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44533" y="2777066"/>
            <a:ext cx="2302933" cy="321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62611" y="2836334"/>
            <a:ext cx="106677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Neo4j Knowledge Graph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64498" y="2980267"/>
            <a:ext cx="1463004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System of record for all data assets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44533" y="3200400"/>
            <a:ext cx="2302933" cy="541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78780" y="3276599"/>
            <a:ext cx="1234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AI applied to every domain.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55920" y="3412066"/>
            <a:ext cx="12801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 Workbench applies it to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1660" y="3547533"/>
            <a:ext cx="868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the domain of data.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44533" y="3776133"/>
            <a:ext cx="2302933" cy="982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67402" y="3674534"/>
            <a:ext cx="457197" cy="4571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1E293B"/>
                </a:solidFill>
              </a:rPr>
              <a:t>83%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27054" y="4148667"/>
            <a:ext cx="1137892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of organizations don't build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08332" y="4267200"/>
            <a:ext cx="975336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 products aligned 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89610" y="4385733"/>
            <a:ext cx="812780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business objectives.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22631" y="4563534"/>
            <a:ext cx="746739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— Gartner 2024 Survey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44533" y="4876800"/>
            <a:ext cx="728133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85086" y="4927600"/>
            <a:ext cx="447029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Source Data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08066" y="4919133"/>
            <a:ext cx="18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→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23466" y="4876800"/>
            <a:ext cx="728133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23380" y="4927600"/>
            <a:ext cx="52830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 Products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87000" y="4919133"/>
            <a:ext cx="18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02400" y="4876800"/>
            <a:ext cx="728133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83591" y="4927600"/>
            <a:ext cx="365751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AI Agents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19999" y="778933"/>
            <a:ext cx="4233333" cy="46905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19999" y="778933"/>
            <a:ext cx="4233333" cy="304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38533" y="821267"/>
            <a:ext cx="1650975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AI THAT RUNS ON YOUR DATA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55466" y="1134534"/>
            <a:ext cx="320033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Enterprise AI needs certified, governed, semantically-rich data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55466" y="1261534"/>
            <a:ext cx="284474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to reason correctly and return trusted answers at scale.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755466" y="1557866"/>
            <a:ext cx="25400" cy="491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873999" y="1583266"/>
            <a:ext cx="1564612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Natural Language Data Access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73999" y="1735666"/>
            <a:ext cx="2377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Ask in business terms. Agent routes to the certified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73999" y="1842346"/>
            <a:ext cx="22402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 product. Returns a governed, trusted answer.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55466" y="2252133"/>
            <a:ext cx="25400" cy="491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873999" y="2277533"/>
            <a:ext cx="949943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Agentic Workflows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73999" y="2429933"/>
            <a:ext cx="2331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Multi-step AI processes grounded in certified data.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73999" y="2536613"/>
            <a:ext cx="2286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No hallucination — agents access governed sources.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755466" y="2946400"/>
            <a:ext cx="25400" cy="491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873999" y="2971800"/>
            <a:ext cx="167637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Automated Analytics &amp; Insights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73999" y="3124200"/>
            <a:ext cx="1920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Agents reason directly over data products.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73999" y="3230880"/>
            <a:ext cx="2011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Consistent KPIs, no conflicting definitions.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755466" y="3640666"/>
            <a:ext cx="25400" cy="491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873999" y="3666066"/>
            <a:ext cx="1788128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AI-Powered Business Applications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73999" y="3818466"/>
            <a:ext cx="2057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Apps built on a foundation of certified data.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873999" y="3925146"/>
            <a:ext cx="2011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Semantic context baked in — not retrofitted.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738533" y="4690533"/>
            <a:ext cx="3996266" cy="677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857066" y="4766733"/>
            <a:ext cx="2103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"By 2027, organizations prioritizing semantics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857066" y="4902200"/>
            <a:ext cx="1783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will achieve 80% higher AI accuracy and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857066" y="5037666"/>
            <a:ext cx="731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60% lower cost."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57066" y="5181600"/>
            <a:ext cx="1503643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Gartner  ·  May 2026  ·  ID G00852605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0" y="5604933"/>
            <a:ext cx="12192000" cy="1253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987076" y="5731933"/>
            <a:ext cx="6217848" cy="259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E293B"/>
                </a:solidFill>
              </a:rPr>
              <a:t>The agents building the foundation.  The foundation enabling the agents.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860840" y="6019800"/>
            <a:ext cx="447032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AI innovation applied to the domain of data — so data can power everything else.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777022" y="6341533"/>
            <a:ext cx="4637957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</a:rPr>
              <a:t>What would it look like if your data engineering practice moved at the speed of AI?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800" y="0"/>
            <a:ext cx="414528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AAAAAA"/>
                </a:solidFill>
              </a:rPr>
              <a:t>Arc 2 v1 — DB vs Data Product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59266"/>
            <a:ext cx="714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293B"/>
                </a:solidFill>
              </a:rPr>
              <a:t>Every AI use case starts with a data product you haven't built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397933"/>
            <a:ext cx="497830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Agent skills automate the heavy lifting. Engineers focus on judgment, quality, and business value.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" y="626533"/>
            <a:ext cx="1015999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0400"/>
            <a:ext cx="12192000" cy="304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1063" y="728134"/>
            <a:ext cx="634987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Databases are not data products.  Turning one into the other is where AI initiatives stall — and where Data Workbench starts.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" y="1007533"/>
            <a:ext cx="3429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THE DATABASE APPROACH  —  undocumented, ungoverned, no contract, no lineage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666" y="1185333"/>
            <a:ext cx="1828799" cy="1481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666" y="11853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674" y="1219200"/>
            <a:ext cx="81278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Schema Discovery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3599" y="1490133"/>
            <a:ext cx="778933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7326" y="14986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3–5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266" y="1676400"/>
            <a:ext cx="111757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DBAs manually 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266" y="1811867"/>
            <a:ext cx="116837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tables, columns, types,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266" y="1947333"/>
            <a:ext cx="66038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relationships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06133" y="1185333"/>
            <a:ext cx="1828799" cy="1481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6133" y="11853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3342" y="1219200"/>
            <a:ext cx="91438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Data Documentation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31066" y="1490133"/>
            <a:ext cx="778933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14793" y="14986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2–4 weeks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7733" y="1676400"/>
            <a:ext cx="137157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Analysts write descriptions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7733" y="1811867"/>
            <a:ext cx="91438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— often incomplete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7733" y="1947333"/>
            <a:ext cx="71118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or out of 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3600" y="1185333"/>
            <a:ext cx="1828799" cy="1481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73600" y="11853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2407" y="1219200"/>
            <a:ext cx="71118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Column Mapping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98533" y="1490133"/>
            <a:ext cx="778933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82260" y="14986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2–3 weeks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5200" y="1676400"/>
            <a:ext cx="101598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Engineers map 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5200" y="1811867"/>
            <a:ext cx="126997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to target in spreadsheets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5200" y="1947333"/>
            <a:ext cx="60958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— no lineage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1066" y="1185333"/>
            <a:ext cx="1828799" cy="1481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41066" y="11853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25273" y="1219200"/>
            <a:ext cx="66038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Quality Rules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65999" y="1490133"/>
            <a:ext cx="778933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9726" y="14986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1–3 weeks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2666" y="1676400"/>
            <a:ext cx="106677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Rules defined ad hoc,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2666" y="1811867"/>
            <a:ext cx="91438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per-project, never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2666" y="1947333"/>
            <a:ext cx="91438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reused or governed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08533" y="1185333"/>
            <a:ext cx="1828799" cy="1481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08533" y="11853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91142" y="1219200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Deploy &amp; Document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33466" y="1490133"/>
            <a:ext cx="778933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17193" y="14986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1–2 weeks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10133" y="1676400"/>
            <a:ext cx="101598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View built manually.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10133" y="1811867"/>
            <a:ext cx="76198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No contract, 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10133" y="1947333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marketplace entry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176000" y="1371600"/>
            <a:ext cx="846666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370733" y="1464733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Ungoverned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79293" y="1617133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database table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96135" y="1778000"/>
            <a:ext cx="406396" cy="304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</a:rPr>
              <a:t>8–17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85033" y="2057400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weeks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49333" y="2861733"/>
            <a:ext cx="1693333" cy="2032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06000" y="2870200"/>
            <a:ext cx="18000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</a:rPr>
              <a:t>vs.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400" y="3191933"/>
            <a:ext cx="3520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THE DATA PRODUCT APPROACH  —  contracted, governed, documented, AI-consumable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666" y="3369733"/>
            <a:ext cx="1828799" cy="1608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8666" y="33697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7473" y="3403600"/>
            <a:ext cx="71118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Auto-Discovery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2133" y="3674533"/>
            <a:ext cx="541866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93046" y="3682999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2–4 hrs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3333" y="4724400"/>
            <a:ext cx="16594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4153" y="4741334"/>
            <a:ext cx="497826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data-discovery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0266" y="3869266"/>
            <a:ext cx="10972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Agents scan every table,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0266" y="3996266"/>
            <a:ext cx="731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column, and FK 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0266" y="4123266"/>
            <a:ext cx="1143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fully documented to graph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06133" y="3369733"/>
            <a:ext cx="1828799" cy="1608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06133" y="33697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14141" y="3403600"/>
            <a:ext cx="81278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Profile &amp; Enrich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49600" y="3674533"/>
            <a:ext cx="541866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60513" y="3682999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1–3 hrs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590800" y="4724400"/>
            <a:ext cx="16594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80471" y="4741334"/>
            <a:ext cx="1280124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data-profiling + metadata-enrichment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07733" y="3869266"/>
            <a:ext cx="1005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AI writes descriptions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07733" y="399626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from profiling data.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07733" y="4123266"/>
            <a:ext cx="10972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Human approves or edits.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73600" y="3369733"/>
            <a:ext cx="1828799" cy="1608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73600" y="33697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05410" y="3403600"/>
            <a:ext cx="96518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Intelligent Mapping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17066" y="3674533"/>
            <a:ext cx="541866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27980" y="3682999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1–2 hrs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58266" y="4724400"/>
            <a:ext cx="16594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67969" y="4741334"/>
            <a:ext cx="640062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data-mapping-neo4j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75200" y="3869266"/>
            <a:ext cx="10972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AI maps source to target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75200" y="3996266"/>
            <a:ext cx="822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with full lineage.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75200" y="4123266"/>
            <a:ext cx="10972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Human reviews, approves.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841066" y="3369733"/>
            <a:ext cx="1828799" cy="1608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841066" y="33697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74474" y="3403600"/>
            <a:ext cx="76198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Quality &amp; Rules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484533" y="3674533"/>
            <a:ext cx="541866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95446" y="3682999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1–2 hrs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25733" y="4724400"/>
            <a:ext cx="16594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257640" y="4741334"/>
            <a:ext cx="995652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data-quality-rule-generation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42666" y="3869266"/>
            <a:ext cx="1188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Domain rules from catalog.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42666" y="3996266"/>
            <a:ext cx="1005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Observation rules from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42666" y="4123266"/>
            <a:ext cx="1188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profiling. Auto-generated.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08533" y="3369733"/>
            <a:ext cx="1828799" cy="1608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008533" y="33697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541941" y="3403600"/>
            <a:ext cx="76198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Serve &amp; Publish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652000" y="3674533"/>
            <a:ext cx="541866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785773" y="3682999"/>
            <a:ext cx="274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&lt; 1 hr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093200" y="4724400"/>
            <a:ext cx="16594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478446" y="4741334"/>
            <a:ext cx="888975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data-serving-virtual-view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10133" y="3869266"/>
            <a:ext cx="1051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Virtual view generated.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10133" y="3996266"/>
            <a:ext cx="1051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ODCS contract attached.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10133" y="4123266"/>
            <a:ext cx="1143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Published to marketplace.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176000" y="3403599"/>
            <a:ext cx="846666" cy="142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416453" y="3496733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Governed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325013" y="3649133"/>
            <a:ext cx="548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 Product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396135" y="3843866"/>
            <a:ext cx="406396" cy="304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</a:rPr>
              <a:t>Days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396138" y="4182533"/>
            <a:ext cx="406390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Contract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416458" y="4318000"/>
            <a:ext cx="365751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Lineage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294541" y="4453467"/>
            <a:ext cx="609585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Quality Rules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335180" y="4588933"/>
            <a:ext cx="52830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Marketplace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38666" y="5266266"/>
            <a:ext cx="2777066" cy="8635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57199" y="5350933"/>
            <a:ext cx="97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20+ Agent Skills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199" y="5571067"/>
            <a:ext cx="132077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Each with domain expertise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199" y="5689600"/>
            <a:ext cx="162556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and provenance-tracked approvals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251200" y="5266266"/>
            <a:ext cx="2777066" cy="8635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369733" y="5350933"/>
            <a:ext cx="1036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Two Product Types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69733" y="5571067"/>
            <a:ext cx="193036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Source-aligned: certify what you have.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69733" y="5689600"/>
            <a:ext cx="193036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Consumer-aligned: build what you need.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163733" y="5266266"/>
            <a:ext cx="2777066" cy="8635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282266" y="5350933"/>
            <a:ext cx="1036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Human-in-the-Loop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82266" y="5571067"/>
            <a:ext cx="167636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Engineers approve AI suggestions.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82266" y="5689600"/>
            <a:ext cx="182876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Every decision improves future runs.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076266" y="5266266"/>
            <a:ext cx="2777066" cy="8635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194800" y="5350933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Active Learning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194800" y="5571067"/>
            <a:ext cx="193036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Rejections and edits train the system.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194800" y="5689600"/>
            <a:ext cx="187956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Accuracy improves with every project.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0" y="6333066"/>
            <a:ext cx="12192000" cy="524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926128" y="6426200"/>
            <a:ext cx="6339744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E293B"/>
                </a:solidFill>
              </a:rPr>
              <a:t>From source database to governed, marketplace-ready data product — measured in days, not months.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470432" y="6671733"/>
            <a:ext cx="325113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1E293B"/>
                </a:solidFill>
              </a:rPr>
              <a:t>With full provenance, lineage, and human approval at every step.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251993" y="6951133"/>
            <a:ext cx="3688014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</a:rPr>
              <a:t>How many AI-ready data products does your organization have today?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800" y="0"/>
            <a:ext cx="414528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AAAAAA"/>
                </a:solidFill>
              </a:rPr>
              <a:t>Arc 2 v2 — AI Doing the Data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42333"/>
            <a:ext cx="746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293B"/>
                </a:solidFill>
              </a:rPr>
              <a:t>AI agents doing the data work.  So AI agents can do the business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389467"/>
            <a:ext cx="645147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We apply the same AI agent technology to data engineering that you'll use to run your business — building the foundation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" y="626533"/>
            <a:ext cx="1015999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0400"/>
            <a:ext cx="12192000" cy="287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6269" y="719667"/>
            <a:ext cx="695946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AI can be applied to any domain.  Data Workbench applies it to the domain of data engineering — building the foundation AI needs to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" y="990600"/>
            <a:ext cx="2606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WITHOUT DATA WORKBENCH  —  manual, fragmented, ungoverned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666" y="1168400"/>
            <a:ext cx="1828799" cy="1312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666" y="1168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674" y="1193800"/>
            <a:ext cx="81278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Schema Discovery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0533" y="1447800"/>
            <a:ext cx="7450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7326" y="14478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3–5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33" y="1617133"/>
            <a:ext cx="960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DBAs document tables,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33" y="1752599"/>
            <a:ext cx="1005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columns, relationships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33" y="1888066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manually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06133" y="1168400"/>
            <a:ext cx="1828799" cy="1312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6133" y="1168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3342" y="1193800"/>
            <a:ext cx="91438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Data Documentation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8000" y="1447800"/>
            <a:ext cx="7450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14793" y="14478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2–4 weeks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0800" y="1617133"/>
            <a:ext cx="1234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Analysts write descriptions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0800" y="1752599"/>
            <a:ext cx="868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— often incomplete,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0800" y="1888066"/>
            <a:ext cx="548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always stale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3600" y="1168400"/>
            <a:ext cx="1828799" cy="1312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73600" y="1168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2407" y="1193800"/>
            <a:ext cx="71118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Column Mapping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5466" y="1447800"/>
            <a:ext cx="7450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82260" y="14478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2–3 weeks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8266" y="1617133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Engineers map 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8266" y="1752599"/>
            <a:ext cx="548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to target 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8266" y="1888066"/>
            <a:ext cx="548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spreadsheets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1066" y="1168400"/>
            <a:ext cx="1828799" cy="1312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41066" y="1168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25273" y="1193800"/>
            <a:ext cx="66038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Quality Rules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82933" y="1447800"/>
            <a:ext cx="7450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9726" y="14478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1–3 weeks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5733" y="1617133"/>
            <a:ext cx="731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Rules ad hoc 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5733" y="1752599"/>
            <a:ext cx="1005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project — never reused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25733" y="188806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or governed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08533" y="1168400"/>
            <a:ext cx="1828799" cy="1312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08533" y="1168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91142" y="1193800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Deploy &amp; Document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50400" y="1447800"/>
            <a:ext cx="7450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17193" y="14478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1–2 weeks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3200" y="1617133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View built manually.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3200" y="1752599"/>
            <a:ext cx="685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No contract, 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3200" y="1888066"/>
            <a:ext cx="777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marketplace entry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176000" y="1320800"/>
            <a:ext cx="846666" cy="846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370733" y="1413933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Ungoverned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14860" y="1557867"/>
            <a:ext cx="568946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database table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96135" y="1693333"/>
            <a:ext cx="406396" cy="304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</a:rPr>
              <a:t>8–17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85033" y="1955799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weeks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34000" y="2633133"/>
            <a:ext cx="1524000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4209" y="2641600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AI agent skills 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400" y="2768600"/>
            <a:ext cx="3246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WITH DATA WORKBENCH AGENT SKILLS  —  AI doing the data engineering work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666" y="2946400"/>
            <a:ext cx="1828799" cy="143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8666" y="2946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7473" y="2971800"/>
            <a:ext cx="71118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Auto-Discovery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9066" y="3225800"/>
            <a:ext cx="507999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93046" y="3225799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2–4 hrs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6400" y="4148666"/>
            <a:ext cx="1693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4153" y="4165600"/>
            <a:ext cx="497826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data-discovery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3333" y="3395133"/>
            <a:ext cx="822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Scans every table,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3333" y="3513666"/>
            <a:ext cx="822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column, FK — fully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3333" y="3632199"/>
            <a:ext cx="868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documented to graph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06133" y="2946400"/>
            <a:ext cx="1828799" cy="143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06133" y="2946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14141" y="2971800"/>
            <a:ext cx="81278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Profile &amp; Enrich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66533" y="3225800"/>
            <a:ext cx="507999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60513" y="3225799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1–3 hrs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573866" y="4148666"/>
            <a:ext cx="1693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80471" y="4165600"/>
            <a:ext cx="1280124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data-profiling + metadata-enrichment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90800" y="3395133"/>
            <a:ext cx="1005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AI writes descriptions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90800" y="3513666"/>
            <a:ext cx="868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from data patterns.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90800" y="3632199"/>
            <a:ext cx="685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Human approves.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73600" y="2946400"/>
            <a:ext cx="1828799" cy="143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73600" y="2946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05410" y="2971800"/>
            <a:ext cx="96518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Intelligent Mapping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34000" y="3225800"/>
            <a:ext cx="507999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27980" y="3225799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1–2 hrs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41333" y="4148666"/>
            <a:ext cx="1693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67969" y="4165600"/>
            <a:ext cx="640062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data-mapping-neo4j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58266" y="3395133"/>
            <a:ext cx="960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AI maps source→target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58266" y="3513666"/>
            <a:ext cx="822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with full lineage.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58266" y="3632199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Human reviews.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841066" y="2946400"/>
            <a:ext cx="1828799" cy="143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841066" y="2946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74474" y="2971800"/>
            <a:ext cx="76198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Quality &amp; Rules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01466" y="3225800"/>
            <a:ext cx="507999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95446" y="3225799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1–2 hrs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08799" y="4148666"/>
            <a:ext cx="1693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257640" y="4165600"/>
            <a:ext cx="995652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data-quality-rule-generation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25733" y="3395133"/>
            <a:ext cx="777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Domain rules from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25733" y="351366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catalog. Observation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25733" y="3632199"/>
            <a:ext cx="960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rules from profiling.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08533" y="2946400"/>
            <a:ext cx="1828799" cy="143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008533" y="2946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541941" y="2971800"/>
            <a:ext cx="76198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Serve &amp; Publish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668933" y="3225800"/>
            <a:ext cx="507999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785773" y="3225799"/>
            <a:ext cx="274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&lt; 1 hr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076266" y="4148666"/>
            <a:ext cx="1693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478446" y="4165600"/>
            <a:ext cx="888975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data-serving-virtual-view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93200" y="3395133"/>
            <a:ext cx="868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Virtual view + ODCS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93200" y="3513666"/>
            <a:ext cx="868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contract. Published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093200" y="3632199"/>
            <a:ext cx="685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to marketplace.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176000" y="3014133"/>
            <a:ext cx="846666" cy="1286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416453" y="3107266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Governed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325013" y="3242733"/>
            <a:ext cx="548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 Product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396135" y="3420533"/>
            <a:ext cx="406396" cy="304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</a:rPr>
              <a:t>Days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396138" y="3759200"/>
            <a:ext cx="406390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Contract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416458" y="3877733"/>
            <a:ext cx="365751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Lineage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416458" y="3996266"/>
            <a:ext cx="365751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Quality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335180" y="4114800"/>
            <a:ext cx="52830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Marketplace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96138" y="4233333"/>
            <a:ext cx="406390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AI-Ready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38666" y="4639733"/>
            <a:ext cx="11514666" cy="677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06400" y="4715933"/>
            <a:ext cx="3794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WHAT BECOMES POSSIBLE  —  enterprise AI with certified data products to reason over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1866" y="4876800"/>
            <a:ext cx="2768600" cy="3556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26533" y="4910667"/>
            <a:ext cx="121917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Natural Language Queries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6533" y="5046133"/>
            <a:ext cx="894058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Ask in business terms.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6533" y="5140960"/>
            <a:ext cx="853419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Get governed answers.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412066" y="4876800"/>
            <a:ext cx="2768600" cy="3556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96733" y="4910667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Agentic Workflows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496733" y="5046133"/>
            <a:ext cx="93469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Multi-step AI processes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496733" y="5140960"/>
            <a:ext cx="1097253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grounded in certified data.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282266" y="4876800"/>
            <a:ext cx="2768600" cy="3556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366933" y="4910667"/>
            <a:ext cx="76198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Consistent KPIs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366933" y="5046133"/>
            <a:ext cx="1137892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Semantic layer routes agents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366933" y="5140960"/>
            <a:ext cx="1056614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to same governed products.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152466" y="4876800"/>
            <a:ext cx="2768600" cy="3556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237133" y="4910667"/>
            <a:ext cx="76198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AI-Powered Apps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237133" y="5046133"/>
            <a:ext cx="853419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Applications built 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237133" y="5140960"/>
            <a:ext cx="1056614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 trusted data foundation.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38666" y="5503333"/>
            <a:ext cx="2785533" cy="694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57199" y="5588000"/>
            <a:ext cx="97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20+ Agent Skills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57199" y="5791200"/>
            <a:ext cx="177796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Purpose-built for data engineering.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57199" y="5909734"/>
            <a:ext cx="137157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Each with domain expertise.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242733" y="5503333"/>
            <a:ext cx="2785533" cy="694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361266" y="5588000"/>
            <a:ext cx="1036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Two Product Types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361266" y="5791200"/>
            <a:ext cx="193036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Source-aligned: certify what you have.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361266" y="5909734"/>
            <a:ext cx="193036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Consumer-aligned: build what you need.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46800" y="5503333"/>
            <a:ext cx="2785533" cy="694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265333" y="55880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Active Learning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65333" y="5791200"/>
            <a:ext cx="182876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Every approval improves future runs.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265333" y="5909734"/>
            <a:ext cx="172716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Every rejection trains the system.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050866" y="5503333"/>
            <a:ext cx="2785533" cy="694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169400" y="5588000"/>
            <a:ext cx="97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Days to AI-Ready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169400" y="5791200"/>
            <a:ext cx="152397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From raw database to governed,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69400" y="5909734"/>
            <a:ext cx="157476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marketplace-ready data product.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0" y="6299200"/>
            <a:ext cx="12192000" cy="558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211347" y="6383867"/>
            <a:ext cx="3769307" cy="21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E293B"/>
                </a:solidFill>
              </a:rPr>
              <a:t>AI builds the foundation.  The foundation enables AI.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505251" y="6620933"/>
            <a:ext cx="518149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1E293B"/>
                </a:solidFill>
              </a:rPr>
              <a:t>The same agent technology that will run your business — applied today to build the data it depends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800" y="0"/>
            <a:ext cx="414528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AAAAAA"/>
                </a:solidFill>
              </a:rPr>
              <a:t>Arc 3 v1 — Three-Layer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265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50800"/>
            <a:ext cx="7111930" cy="304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293B"/>
                </a:solidFill>
              </a:rPr>
              <a:t>The three layers every AI initiative needs. Start with the foundation.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372533"/>
            <a:ext cx="584188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AI agents are only as good as the data they reason over.  Reliable AI begins with reliable, governed data products.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" y="592666"/>
            <a:ext cx="1015999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94266"/>
            <a:ext cx="12192000" cy="1049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666" y="999066"/>
            <a:ext cx="3894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8944" y="1016000"/>
            <a:ext cx="248913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Layer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666" y="1126067"/>
            <a:ext cx="726429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AI AGENTS &amp;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666" y="1261534"/>
            <a:ext cx="792468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666" y="1481666"/>
            <a:ext cx="548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The Consumer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9200" y="795866"/>
            <a:ext cx="2252133" cy="846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0800" y="863600"/>
            <a:ext cx="121917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Natural Language Queries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1024466"/>
            <a:ext cx="1005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Ask in business terms.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0800" y="1143000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Get trusted, governed answers.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59866" y="795866"/>
            <a:ext cx="2252133" cy="846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61466" y="863600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Agentic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1466" y="1024466"/>
            <a:ext cx="1463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Multi-step AI processes grounded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1466" y="1143000"/>
            <a:ext cx="1234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in certified data products.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30533" y="795866"/>
            <a:ext cx="2252133" cy="846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2133" y="863600"/>
            <a:ext cx="96518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Automated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2133" y="1024466"/>
            <a:ext cx="1508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Agents reason over data directly.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2133" y="1143000"/>
            <a:ext cx="12801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No manual query engineering.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795866"/>
            <a:ext cx="2252133" cy="846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02800" y="863600"/>
            <a:ext cx="116837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AI-Powered Applications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2800" y="1024466"/>
            <a:ext cx="1234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Apps with semantic context.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2800" y="1143000"/>
            <a:ext cx="1325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Consistent KPIs across tools.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0066" y="1786467"/>
            <a:ext cx="248913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enables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1913466"/>
            <a:ext cx="12192000" cy="130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666" y="2345266"/>
            <a:ext cx="3894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8944" y="2362200"/>
            <a:ext cx="248913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Layer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666" y="2472267"/>
            <a:ext cx="924546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SEMANTIC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666" y="2692400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The Router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89200" y="1998133"/>
            <a:ext cx="3039533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90800" y="2065867"/>
            <a:ext cx="152397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Business Ontology  (Top Layer)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0800" y="2226733"/>
            <a:ext cx="1508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Maps business concepts and terms.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90800" y="2345266"/>
            <a:ext cx="10972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Ensures consistent KPIs,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90800" y="2463800"/>
            <a:ext cx="1143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metrics, and definitions.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47266" y="1998133"/>
            <a:ext cx="3039533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48866" y="2065867"/>
            <a:ext cx="187956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Data Product Metadata  (Bottom Layer)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48866" y="2226733"/>
            <a:ext cx="1005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Maps ontology concepts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48866" y="2345266"/>
            <a:ext cx="1234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to certified data products.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48866" y="2463800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Bridges business to technical.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05333" y="1998133"/>
            <a:ext cx="3039533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06933" y="2065867"/>
            <a:ext cx="132077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Semantic Routing + Context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06933" y="2226733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Routes AI queries to the right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06933" y="2345266"/>
            <a:ext cx="1234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 product automatically.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06933" y="2463800"/>
            <a:ext cx="17373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Injects semantic context into prompts.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89200" y="2963333"/>
            <a:ext cx="9364133" cy="2032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24666" y="2988733"/>
            <a:ext cx="6400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Proof-of-concept dual-ontology semantic layer included in Data Workbench — demonstrates how governed data products directly power AI queries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80066" y="3259667"/>
            <a:ext cx="213354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powers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3386666"/>
            <a:ext cx="12192000" cy="21336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8666" y="4233333"/>
            <a:ext cx="3894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8944" y="4250267"/>
            <a:ext cx="248913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Layer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666" y="4360334"/>
            <a:ext cx="858507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DATA PRODUCTS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666" y="4580466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The Foundation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89200" y="3454399"/>
            <a:ext cx="9364133" cy="270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58533" y="3496733"/>
            <a:ext cx="7152512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Data Workbench builds this layer  —  20+ agent skills, full lifecycle from source database to marketplace-published data product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89200" y="3793066"/>
            <a:ext cx="4631266" cy="1286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489200" y="3793066"/>
            <a:ext cx="4631266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07733" y="3818466"/>
            <a:ext cx="223516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SOURCE-ALIGNED  —  certify what you have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58533" y="4097867"/>
            <a:ext cx="289554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Discovered from existing databases and data warehouses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58533" y="4301067"/>
            <a:ext cx="299714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Auto-profiled and AI-enriched with business descriptions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58533" y="4504267"/>
            <a:ext cx="299714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ODCS data contract synthesized from approved graph state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58533" y="4707467"/>
            <a:ext cx="274314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Quality rules generated from observed data patterns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58533" y="4910667"/>
            <a:ext cx="264154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Published to marketplace with full schema lineage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22066" y="3793066"/>
            <a:ext cx="4631266" cy="1286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222066" y="3793066"/>
            <a:ext cx="4631266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40599" y="3818466"/>
            <a:ext cx="223516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CONSUMER-ALIGNED  —  build what you need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91399" y="4097867"/>
            <a:ext cx="304794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Contract-first: schema designed before engineering begins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91399" y="4301067"/>
            <a:ext cx="309873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Product Owner shapes columns, rules, and grain in a wizard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91399" y="4504267"/>
            <a:ext cx="320033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Bound to source-aligned products via governed CONSUMES edges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91399" y="4707467"/>
            <a:ext cx="299714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Virtual serving views generated with FK-aware join logic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91399" y="4910667"/>
            <a:ext cx="299714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AI-ready: certified, governed, and semantically grounded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89200" y="5164666"/>
            <a:ext cx="18033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98046" y="5207000"/>
            <a:ext cx="777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Contracted (ODCS)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77266" y="5164666"/>
            <a:ext cx="18033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91853" y="5207000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Governed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65333" y="5164666"/>
            <a:ext cx="18033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19899" y="5207000"/>
            <a:ext cx="685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Quality-assured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53399" y="5164666"/>
            <a:ext cx="18033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730826" y="5207000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Lineage-traced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41466" y="5164666"/>
            <a:ext cx="18033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90293" y="5207000"/>
            <a:ext cx="10972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Marketplace-discoverable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80066" y="5545667"/>
            <a:ext cx="180000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feeds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5689600"/>
            <a:ext cx="12192000" cy="38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38666" y="5757333"/>
            <a:ext cx="2192866" cy="253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3666" y="5808133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Relational Databases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667000" y="5757333"/>
            <a:ext cx="2192866" cy="253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416299" y="5808133"/>
            <a:ext cx="685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 Warehouses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995333" y="5757333"/>
            <a:ext cx="2192866" cy="253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858933" y="5808133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 Lakes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323666" y="5757333"/>
            <a:ext cx="2192866" cy="253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164406" y="5808133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Source APIs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652000" y="5757333"/>
            <a:ext cx="2192866" cy="253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424160" y="5808133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Legacy Systems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6146800"/>
            <a:ext cx="12192000" cy="7112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661972" y="6256867"/>
            <a:ext cx="6868056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E293B"/>
                </a:solidFill>
              </a:rPr>
              <a:t>"Algorithms are off the shelf, including GenAI. Differentiation is in the readiness of the data for AI."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15840" y="6493933"/>
            <a:ext cx="2560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Gartner  ·  D&amp;A Leaders, Ready Your Data for AI  ·  2025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04961" y="6747933"/>
            <a:ext cx="4582078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</a:rPr>
              <a:t>Layer 1. Built. Governed. Published.  The foundation that makes the rest possible.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800" y="0"/>
            <a:ext cx="414528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AAAAAA"/>
                </a:solidFill>
              </a:rPr>
              <a:t>Arc 3 v2 — AI Builder + AI Consumer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94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90266" y="33867"/>
            <a:ext cx="5811468" cy="3352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</a:rPr>
              <a:t>AI builds the foundation.  The foundation powers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25857" y="389467"/>
            <a:ext cx="574028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1E293B"/>
                </a:solidFill>
              </a:rPr>
              <a:t>The same AI agent technology applied to the domain of data engineering — building what enterprise AI will run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18666" y="660400"/>
            <a:ext cx="1354666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666" y="778933"/>
            <a:ext cx="3555999" cy="513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666" y="778933"/>
            <a:ext cx="3555999" cy="304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" y="821267"/>
            <a:ext cx="1122663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AI AS THE 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053" y="855133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0">
                <a:solidFill>
                  <a:srgbClr val="1E293B"/>
                </a:solidFill>
              </a:rPr>
              <a:t>Data Workbench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133" y="1134534"/>
            <a:ext cx="157476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Data Workbench applies AI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133" y="1253067"/>
            <a:ext cx="157476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technology to data engineering: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4133" y="1490133"/>
            <a:ext cx="220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4200" y="1524000"/>
            <a:ext cx="18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481667"/>
            <a:ext cx="894064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Schema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1634066"/>
            <a:ext cx="2011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Agents scan databases, discover every table,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1740746"/>
            <a:ext cx="1828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column, FK, and index — hours, not weeks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133" y="2099733"/>
            <a:ext cx="220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4200" y="2133600"/>
            <a:ext cx="18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2091267"/>
            <a:ext cx="782306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Data Profiling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2243666"/>
            <a:ext cx="1874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Statistical patterns, nulls, cardinality,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2350346"/>
            <a:ext cx="2011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anomalies — data quality baseline built fast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4133" y="2709333"/>
            <a:ext cx="220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200" y="2743200"/>
            <a:ext cx="18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2700867"/>
            <a:ext cx="1061701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Metadata Enrichment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2853266"/>
            <a:ext cx="1874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AI writes business descriptions from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2959946"/>
            <a:ext cx="1920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patterns — human approves or corrects each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4133" y="3318933"/>
            <a:ext cx="220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4200" y="3352799"/>
            <a:ext cx="18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3310466"/>
            <a:ext cx="1061701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Intelligent 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3462866"/>
            <a:ext cx="1874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Source-to-target column mapping with full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3569546"/>
            <a:ext cx="1691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lineage — AI suggests, human approves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4133" y="3928533"/>
            <a:ext cx="220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4200" y="3962399"/>
            <a:ext cx="18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3920066"/>
            <a:ext cx="949943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Quality Assurance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4072466"/>
            <a:ext cx="17373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Domain rules from knowledge catalogs 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4179146"/>
            <a:ext cx="1828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observation rules derived from profiling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4133" y="4538133"/>
            <a:ext cx="220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4200" y="4572000"/>
            <a:ext cx="18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4529667"/>
            <a:ext cx="838185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Serve &amp; Publish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4682066"/>
            <a:ext cx="1874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Virtual views + ODCS contract generated 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4788746"/>
            <a:ext cx="1554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marketplace listing in under a 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199" y="5401733"/>
            <a:ext cx="3318933" cy="406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1866" y="5461000"/>
            <a:ext cx="1600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Human-in-the-loop at every decision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1866" y="5588000"/>
            <a:ext cx="215386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Active Learning  ·  PROV-O Provenance  ·  Neo4j Graph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63999" y="778933"/>
            <a:ext cx="4063999" cy="513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63999" y="778933"/>
            <a:ext cx="4063999" cy="304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82533" y="821267"/>
            <a:ext cx="1849092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DATA PRODUCTS  —  THE BRIDGE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22800" y="1159933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← built by AI agents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6219" y="1159933"/>
            <a:ext cx="1051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consumed by AI agents 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99466" y="1388533"/>
            <a:ext cx="1862666" cy="1253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75207" y="1473200"/>
            <a:ext cx="71118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SOURCE-ALIGNED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4091" y="1625600"/>
            <a:ext cx="853419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Certify what you have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84133" y="1761066"/>
            <a:ext cx="1381726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→  Existing databases &amp; warehouses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84133" y="1913466"/>
            <a:ext cx="1544282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→  Auto-discovered, profiled, enriched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84133" y="2065867"/>
            <a:ext cx="1584921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→  ODCS contract synthesized from graph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84133" y="2218267"/>
            <a:ext cx="1666199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→  Published with quality rules + lineage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9866" y="1388533"/>
            <a:ext cx="1862666" cy="1253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54807" y="1473200"/>
            <a:ext cx="81278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CONSUMER-ALIGNED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5129" y="1625600"/>
            <a:ext cx="772141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Build what you need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4533" y="1761066"/>
            <a:ext cx="1381726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→  Contract-first schema authoring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4533" y="1913466"/>
            <a:ext cx="1463004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→  PO defines before engineer builds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4533" y="2065867"/>
            <a:ext cx="1544282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→  Mapped to source products via graph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4533" y="2218267"/>
            <a:ext cx="1788116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→  AI-ready: governed, semantically grounded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99466" y="2743200"/>
            <a:ext cx="711200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52815" y="2777067"/>
            <a:ext cx="604503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Contracted (ODCS)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61466" y="2743200"/>
            <a:ext cx="711200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74830" y="2777067"/>
            <a:ext cx="284472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Governed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23466" y="2743200"/>
            <a:ext cx="711200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30153" y="2777067"/>
            <a:ext cx="497826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Lineage-traced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85466" y="2743200"/>
            <a:ext cx="711200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74374" y="2777067"/>
            <a:ext cx="533385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Quality-assured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47466" y="2743200"/>
            <a:ext cx="711200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76358" y="2777067"/>
            <a:ext cx="853416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Marketplace-discoverable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99466" y="3031066"/>
            <a:ext cx="3793066" cy="6096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04474" y="3090334"/>
            <a:ext cx="1783053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E293B"/>
                </a:solidFill>
              </a:rPr>
              <a:t>AI applied to every domain.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76824" y="3302000"/>
            <a:ext cx="243835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1E293B"/>
                </a:solidFill>
              </a:rPr>
              <a:t>Data Workbench applies it to the domain of DATA.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98720" y="3462866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Purpose-built agent skills for data engineering.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99466" y="3742266"/>
            <a:ext cx="3793066" cy="406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67200" y="3818466"/>
            <a:ext cx="2606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Semantic layer  (between data products and AI consumers):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67200" y="3962400"/>
            <a:ext cx="4063900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Routes AI queries to the right certified data product.  Proof-of-concept included in Data Workbench.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99466" y="4216400"/>
            <a:ext cx="3793066" cy="6096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593089" y="4258733"/>
            <a:ext cx="1005822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</a:rPr>
              <a:t>The Virtuous Cycle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67200" y="4419600"/>
            <a:ext cx="1788116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↺  Better data products → better AI outcomes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67200" y="4555067"/>
            <a:ext cx="2031950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↺  Better AI outcomes → more enterprise confidence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67200" y="4690533"/>
            <a:ext cx="2478979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↺  More confidence → more data products → stronger foundation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99466" y="5063066"/>
            <a:ext cx="3793066" cy="38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861560" y="5122333"/>
            <a:ext cx="2468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83% of orgs don't build business-aligned data products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38700" y="5257800"/>
            <a:ext cx="2514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Only 9% have a functioning AI data readiness assessment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37789" y="5384800"/>
            <a:ext cx="2316423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Gartner 2024 Survey — D&amp;A Leaders, Ready Your Data for AI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99466" y="5503333"/>
            <a:ext cx="728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426373" y="5562600"/>
            <a:ext cx="27432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Source DB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54533" y="5554134"/>
            <a:ext cx="180000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→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961466" y="5503333"/>
            <a:ext cx="728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142653" y="5562600"/>
            <a:ext cx="36576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Agent Skills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16533" y="5554134"/>
            <a:ext cx="180000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→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723466" y="5503333"/>
            <a:ext cx="728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904653" y="5562600"/>
            <a:ext cx="36576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 Product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78533" y="5554134"/>
            <a:ext cx="180000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→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85466" y="5503333"/>
            <a:ext cx="728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27613" y="5562600"/>
            <a:ext cx="2438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Semantic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40533" y="5554134"/>
            <a:ext cx="180000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→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247466" y="5503333"/>
            <a:ext cx="728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474373" y="5562600"/>
            <a:ext cx="27432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AI Agents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796453" y="3166533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builds →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06926" y="3166533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→ enables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297333" y="778933"/>
            <a:ext cx="3555999" cy="513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297333" y="778933"/>
            <a:ext cx="3555999" cy="304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415866" y="821267"/>
            <a:ext cx="1188702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AI AS THE CONSUMER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140440" y="855133"/>
            <a:ext cx="5943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0">
                <a:solidFill>
                  <a:srgbClr val="1E293B"/>
                </a:solidFill>
              </a:rPr>
              <a:t>Enterprise AI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32800" y="1134534"/>
            <a:ext cx="177796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Enterprise AI that needs certified,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32800" y="1253067"/>
            <a:ext cx="172716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governed data to reason correctly: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432800" y="1490133"/>
            <a:ext cx="3285066" cy="643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551333" y="1549400"/>
            <a:ext cx="1341096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Natural Language Queries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551333" y="1710266"/>
            <a:ext cx="1005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Ask in business terms.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51333" y="1837266"/>
            <a:ext cx="1143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Agent routes to the right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51333" y="1964266"/>
            <a:ext cx="1051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certified data product.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432800" y="2218266"/>
            <a:ext cx="3285066" cy="643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551333" y="2277533"/>
            <a:ext cx="949943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Agentic Workflows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551333" y="2438400"/>
            <a:ext cx="1051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Multi-step AI processes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551333" y="2565400"/>
            <a:ext cx="1188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grounded in governed data.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51333" y="2692400"/>
            <a:ext cx="1188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No hallucination at scale.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432800" y="2946400"/>
            <a:ext cx="3285066" cy="643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551333" y="3005667"/>
            <a:ext cx="1061701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Automated Analytics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551333" y="3166533"/>
            <a:ext cx="1234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Agents reason directly over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551333" y="3293533"/>
            <a:ext cx="1143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 products. Consistent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551333" y="3420533"/>
            <a:ext cx="1188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KPIs, no conflicting defs.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432800" y="3674533"/>
            <a:ext cx="3285066" cy="643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551333" y="3733800"/>
            <a:ext cx="1285217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AI-Powered Applications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551333" y="3894666"/>
            <a:ext cx="1188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Apps with semantic context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551333" y="4021666"/>
            <a:ext cx="960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baked in — built on a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551333" y="4148666"/>
            <a:ext cx="1188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certified data foundation.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415866" y="4809066"/>
            <a:ext cx="3318933" cy="999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846735" y="4792134"/>
            <a:ext cx="457197" cy="4571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1E293B"/>
                </a:solidFill>
              </a:rPr>
              <a:t>80%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534400" y="5207000"/>
            <a:ext cx="1188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higher agentic AI accuracy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534400" y="5325533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60% lower cost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534400" y="5469467"/>
            <a:ext cx="1178531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when organizations prioritize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534400" y="5588000"/>
            <a:ext cx="1097253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semantics in AI-ready data.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34400" y="5715000"/>
            <a:ext cx="711180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Gartner  ·  May 2026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987076" y="6155267"/>
            <a:ext cx="6217848" cy="259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E293B"/>
                </a:solidFill>
              </a:rPr>
              <a:t>The agents building the foundation.  The foundation enabling the agents.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860840" y="6443133"/>
            <a:ext cx="447032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AI innovation applied to the domain of data — so data can power everything else.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302050" y="6747933"/>
            <a:ext cx="558790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</a:rPr>
              <a:t>What would your enterprise AI look like with a certified, governed data foundation ready on day one?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