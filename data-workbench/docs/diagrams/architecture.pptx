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79" r:id="rId3"/>
    <p:sldId id="263" r:id="rId4"/>
    <p:sldId id="261" r:id="rId5"/>
    <p:sldId id="260" r:id="rId6"/>
    <p:sldId id="256" r:id="rId7"/>
    <p:sldId id="257" r:id="rId8"/>
    <p:sldId id="258" r:id="rId9"/>
    <p:sldId id="264" r:id="rId10"/>
    <p:sldId id="265" r:id="rId11"/>
    <p:sldId id="266" r:id="rId12"/>
    <p:sldId id="259" r:id="rId13"/>
    <p:sldId id="267" r:id="rId14"/>
    <p:sldId id="268" r:id="rId15"/>
    <p:sldId id="269" r:id="rId16"/>
    <p:sldId id="270" r:id="rId17"/>
    <p:sldId id="277" r:id="rId18"/>
    <p:sldId id="278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4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80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458B6-3034-43C2-AB7C-A09935ED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913F-768B-49A5-BA02-72CED2D46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490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E28519-F947-89B6-190B-7B888F77F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443" y="960280"/>
            <a:ext cx="5183242" cy="27036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18666" cy="778933"/>
          </a:xfrm>
          <a:prstGeom prst="rect">
            <a:avLst/>
          </a:prstGeom>
          <a:noFill/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521" y="59265"/>
            <a:ext cx="22003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E293B"/>
                </a:solidFill>
              </a:rPr>
              <a:t>Data </a:t>
            </a:r>
            <a:r>
              <a:rPr sz="2200" b="1" dirty="0">
                <a:solidFill>
                  <a:srgbClr val="1E293B"/>
                </a:solidFill>
              </a:rPr>
              <a:t>Workbench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466" y="465667"/>
            <a:ext cx="56930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1E293B"/>
                </a:solidFill>
              </a:rPr>
              <a:t>An AI-powered platform for building, governing, and publishing enterprise data products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846666"/>
            <a:ext cx="2794000" cy="3488266"/>
          </a:xfrm>
          <a:prstGeom prst="rect">
            <a:avLst/>
          </a:prstGeom>
          <a:noFill/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3260" y="4793440"/>
            <a:ext cx="15138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1E293B"/>
                </a:solidFill>
              </a:rPr>
              <a:t>Key Features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2C201F4-503C-8CB1-1D90-C4F2743B8B4D}"/>
              </a:ext>
            </a:extLst>
          </p:cNvPr>
          <p:cNvSpPr txBox="1"/>
          <p:nvPr/>
        </p:nvSpPr>
        <p:spPr>
          <a:xfrm>
            <a:off x="493261" y="1085026"/>
            <a:ext cx="514858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Data Workbench?</a:t>
            </a:r>
          </a:p>
          <a:p>
            <a:r>
              <a:rPr lang="en-US" sz="1600" dirty="0"/>
              <a:t>A workbench where AI agents and humans collaborate to build governed data products. Agent skills automate the heavy lifting — engineers and product owners review and approve at every step.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B6FA96C-E7A8-9EAC-ACFD-77FFB2FD79CF}"/>
              </a:ext>
            </a:extLst>
          </p:cNvPr>
          <p:cNvSpPr txBox="1"/>
          <p:nvPr/>
        </p:nvSpPr>
        <p:spPr>
          <a:xfrm>
            <a:off x="493261" y="2551342"/>
            <a:ext cx="4490219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Engineering Workbench</a:t>
            </a:r>
          </a:p>
          <a:p>
            <a:r>
              <a:rPr lang="en-US" sz="1400" dirty="0"/>
              <a:t>AI pipeline: discover → profile → map → quality → publish</a:t>
            </a:r>
          </a:p>
          <a:p>
            <a:endParaRPr lang="en-US" sz="1400" b="1" dirty="0"/>
          </a:p>
          <a:p>
            <a:r>
              <a:rPr lang="en-US" sz="1400" b="1" dirty="0"/>
              <a:t>Product Workbench</a:t>
            </a:r>
          </a:p>
          <a:p>
            <a:r>
              <a:rPr lang="en-US" sz="1400" dirty="0"/>
              <a:t>Design products contract-first, validate and publish to marketplace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Knowledge Graph</a:t>
            </a:r>
          </a:p>
          <a:p>
            <a:pPr>
              <a:buNone/>
            </a:pPr>
            <a:r>
              <a:rPr lang="en-US" sz="1400" dirty="0"/>
              <a:t>Neo4j: all assets, semantics, lineage &amp; provenance in one graph</a:t>
            </a:r>
            <a:r>
              <a:rPr lang="en-US" sz="1600" dirty="0"/>
              <a:t>.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5C3FC03-C307-B402-C167-9BD218E01B02}"/>
              </a:ext>
            </a:extLst>
          </p:cNvPr>
          <p:cNvSpPr/>
          <p:nvPr/>
        </p:nvSpPr>
        <p:spPr>
          <a:xfrm>
            <a:off x="609626" y="5193550"/>
            <a:ext cx="2042133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>
                <a:solidFill>
                  <a:schemeClr val="tx1"/>
                </a:solidFill>
              </a:rPr>
              <a:t>Agent-Powered Pipeline</a:t>
            </a:r>
          </a:p>
          <a:p>
            <a:r>
              <a:rPr lang="en-US" sz="1100" dirty="0">
                <a:solidFill>
                  <a:schemeClr val="tx1"/>
                </a:solidFill>
              </a:rPr>
              <a:t>20+ AI agent skills built for data engineering — discovery, profiling, mapping, quality,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07BC1B6F-C9E2-1971-DC55-856F8B52A46E}"/>
              </a:ext>
            </a:extLst>
          </p:cNvPr>
          <p:cNvSpPr/>
          <p:nvPr/>
        </p:nvSpPr>
        <p:spPr>
          <a:xfrm>
            <a:off x="3067554" y="5236657"/>
            <a:ext cx="2042133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>
                <a:solidFill>
                  <a:schemeClr val="tx1"/>
                </a:solidFill>
              </a:rPr>
              <a:t>Human-in-the-Loop</a:t>
            </a:r>
          </a:p>
          <a:p>
            <a:r>
              <a:rPr lang="en-US" sz="1100" dirty="0">
                <a:solidFill>
                  <a:schemeClr val="tx1"/>
                </a:solidFill>
              </a:rPr>
              <a:t>Every AI output reviewed and approved before it persists. Provenance tracked at each step.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28847C4A-B861-81E2-1C4E-80F55DB789EE}"/>
              </a:ext>
            </a:extLst>
          </p:cNvPr>
          <p:cNvSpPr/>
          <p:nvPr/>
        </p:nvSpPr>
        <p:spPr>
          <a:xfrm>
            <a:off x="5587644" y="5202418"/>
            <a:ext cx="2042133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>
                <a:solidFill>
                  <a:schemeClr val="tx1"/>
                </a:solidFill>
              </a:rPr>
              <a:t>Data Contracts (ODCS)</a:t>
            </a:r>
          </a:p>
          <a:p>
            <a:r>
              <a:rPr lang="en-US" sz="1100" dirty="0">
                <a:solidFill>
                  <a:schemeClr val="tx1"/>
                </a:solidFill>
              </a:rPr>
              <a:t>Every product carries a machine-readable contract: schema, rules, lineage, and governance built in.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DE57A21-5AD7-0927-811D-14F003BAE168}"/>
              </a:ext>
            </a:extLst>
          </p:cNvPr>
          <p:cNvSpPr/>
          <p:nvPr/>
        </p:nvSpPr>
        <p:spPr>
          <a:xfrm>
            <a:off x="7868755" y="5189984"/>
            <a:ext cx="2042133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>
                <a:solidFill>
                  <a:schemeClr val="tx1"/>
                </a:solidFill>
              </a:rPr>
              <a:t>Two Product Types</a:t>
            </a:r>
          </a:p>
          <a:p>
            <a:r>
              <a:rPr lang="en-US" sz="1100" dirty="0">
                <a:solidFill>
                  <a:schemeClr val="tx1"/>
                </a:solidFill>
              </a:rPr>
              <a:t>Source-aligned: certify existing databases. Consumer-aligned: design for your AI use cases.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E95F92C4-7C07-C904-ACE9-1426D6475F35}"/>
              </a:ext>
            </a:extLst>
          </p:cNvPr>
          <p:cNvSpPr/>
          <p:nvPr/>
        </p:nvSpPr>
        <p:spPr>
          <a:xfrm>
            <a:off x="10149866" y="5168130"/>
            <a:ext cx="2042133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>
                <a:solidFill>
                  <a:schemeClr val="tx1"/>
                </a:solidFill>
              </a:rPr>
              <a:t>Marketplace &amp; Discoverability</a:t>
            </a:r>
          </a:p>
          <a:p>
            <a:r>
              <a:rPr lang="en-US" sz="1100" dirty="0">
                <a:solidFill>
                  <a:schemeClr val="tx1"/>
                </a:solidFill>
              </a:rPr>
              <a:t>Published products searchable and consumable by AI agents and teams across the enterprise.</a:t>
            </a:r>
          </a:p>
        </p:txBody>
      </p:sp>
      <p:pic>
        <p:nvPicPr>
          <p:cNvPr id="106" name="Picture 2">
            <a:extLst>
              <a:ext uri="{FF2B5EF4-FFF2-40B4-BE49-F238E27FC236}">
                <a16:creationId xmlns:a16="http://schemas.microsoft.com/office/drawing/2014/main" id="{3C3874E6-CDB6-1D87-7211-0622558DF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396" y="2697923"/>
            <a:ext cx="3350389" cy="187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4">
            <a:extLst>
              <a:ext uri="{FF2B5EF4-FFF2-40B4-BE49-F238E27FC236}">
                <a16:creationId xmlns:a16="http://schemas.microsoft.com/office/drawing/2014/main" id="{EE781FF7-9E53-317B-37DC-58459EB3F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688" y="2778051"/>
            <a:ext cx="3350389" cy="185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AE34-3CDB-BAC1-D98B-1D3EA6AC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8DA1C-FBFA-9F02-83C4-B2AF9AF5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latin typeface="Graphik"/>
              </a:rPr>
              <a:t>Data Workbench</a:t>
            </a:r>
            <a:endParaRPr sz="2800" b="1" dirty="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3A0F6-8D2D-C49D-0E95-9F3CBE9A1145}"/>
              </a:ext>
            </a:extLst>
          </p:cNvPr>
          <p:cNvSpPr/>
          <p:nvPr/>
        </p:nvSpPr>
        <p:spPr>
          <a:xfrm>
            <a:off x="338666" y="846666"/>
            <a:ext cx="2794000" cy="3488266"/>
          </a:xfrm>
          <a:prstGeom prst="rect">
            <a:avLst/>
          </a:prstGeom>
          <a:noFill/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B2877-EB89-AFAC-CDE5-F1D1A0358748}"/>
              </a:ext>
            </a:extLst>
          </p:cNvPr>
          <p:cNvSpPr txBox="1"/>
          <p:nvPr/>
        </p:nvSpPr>
        <p:spPr>
          <a:xfrm>
            <a:off x="493260" y="4793440"/>
            <a:ext cx="16017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1E293B"/>
                </a:solidFill>
              </a:rPr>
              <a:t>Key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E7090-C6A9-29F6-C9E2-E6ADE91AB4DB}"/>
              </a:ext>
            </a:extLst>
          </p:cNvPr>
          <p:cNvSpPr txBox="1"/>
          <p:nvPr/>
        </p:nvSpPr>
        <p:spPr>
          <a:xfrm>
            <a:off x="361125" y="1730158"/>
            <a:ext cx="346771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Product Workbench</a:t>
            </a:r>
          </a:p>
          <a:p>
            <a:r>
              <a:rPr lang="en-US" sz="1400" dirty="0"/>
              <a:t>Design products contract-first, validate and publish to marketplace</a:t>
            </a:r>
          </a:p>
          <a:p>
            <a:endParaRPr lang="en-US" sz="1400" b="1" dirty="0"/>
          </a:p>
          <a:p>
            <a:r>
              <a:rPr lang="en-US" sz="1400" b="1" dirty="0"/>
              <a:t>Engineering Workbench</a:t>
            </a:r>
          </a:p>
          <a:p>
            <a:r>
              <a:rPr lang="en-US" sz="1400" dirty="0"/>
              <a:t>AI pipeline: discover → profile → map → quality → publish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Knowledge Graph</a:t>
            </a:r>
          </a:p>
          <a:p>
            <a:pPr>
              <a:buNone/>
            </a:pPr>
            <a:r>
              <a:rPr lang="en-US" sz="1400" dirty="0"/>
              <a:t>Neo4j: all assets, semantics, lineage &amp; provenance in one graph</a:t>
            </a:r>
            <a:r>
              <a:rPr lang="en-US" sz="1600" dirty="0"/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6A18CB-7193-29B3-48A4-CE0F9874E58D}"/>
              </a:ext>
            </a:extLst>
          </p:cNvPr>
          <p:cNvSpPr/>
          <p:nvPr/>
        </p:nvSpPr>
        <p:spPr>
          <a:xfrm>
            <a:off x="475673" y="5193550"/>
            <a:ext cx="2194560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Agent-Powered Pipeline</a:t>
            </a:r>
          </a:p>
          <a:p>
            <a:r>
              <a:rPr lang="en-US" sz="1000" dirty="0">
                <a:solidFill>
                  <a:schemeClr val="tx1"/>
                </a:solidFill>
              </a:rPr>
              <a:t>30+ AI agent skills built for data engineering — discovery, profiling, mapping, quality,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15F217-F1C3-E0F5-5410-D616DDF95028}"/>
              </a:ext>
            </a:extLst>
          </p:cNvPr>
          <p:cNvSpPr/>
          <p:nvPr/>
        </p:nvSpPr>
        <p:spPr>
          <a:xfrm>
            <a:off x="2764901" y="5202418"/>
            <a:ext cx="2194560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Human-in-the-Loop</a:t>
            </a:r>
          </a:p>
          <a:p>
            <a:r>
              <a:rPr lang="en-US" sz="1000" dirty="0">
                <a:solidFill>
                  <a:schemeClr val="tx1"/>
                </a:solidFill>
              </a:rPr>
              <a:t>Every AI output reviewed and approved before it persists. Provenance tracked at each step.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6C75E1-FA9D-E3AB-20CB-BBDA3ADD7BDF}"/>
              </a:ext>
            </a:extLst>
          </p:cNvPr>
          <p:cNvSpPr/>
          <p:nvPr/>
        </p:nvSpPr>
        <p:spPr>
          <a:xfrm>
            <a:off x="5054129" y="5197832"/>
            <a:ext cx="2194560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Data Contracts (ODCS)</a:t>
            </a:r>
          </a:p>
          <a:p>
            <a:r>
              <a:rPr lang="en-US" sz="1000" dirty="0">
                <a:solidFill>
                  <a:schemeClr val="tx1"/>
                </a:solidFill>
              </a:rPr>
              <a:t>Every product carries a machine-readable contract: schema, rules, lineage, and governance built in.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4C3BE8-6E0B-9743-C1BF-BD09FDF71503}"/>
              </a:ext>
            </a:extLst>
          </p:cNvPr>
          <p:cNvSpPr/>
          <p:nvPr/>
        </p:nvSpPr>
        <p:spPr>
          <a:xfrm>
            <a:off x="7343357" y="5189984"/>
            <a:ext cx="2194560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Two Product Types</a:t>
            </a:r>
          </a:p>
          <a:p>
            <a:r>
              <a:rPr lang="en-US" sz="1000" dirty="0">
                <a:solidFill>
                  <a:schemeClr val="tx1"/>
                </a:solidFill>
              </a:rPr>
              <a:t>Source-aligned: certify existing databases. Consumer-aligned: design for your AI use cases.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3B5065-C04F-5AA9-FC70-0548861A2088}"/>
              </a:ext>
            </a:extLst>
          </p:cNvPr>
          <p:cNvSpPr/>
          <p:nvPr/>
        </p:nvSpPr>
        <p:spPr>
          <a:xfrm>
            <a:off x="9632584" y="5189984"/>
            <a:ext cx="2194560" cy="11158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chemeClr val="tx1"/>
                </a:solidFill>
              </a:rPr>
              <a:t>Marketplace &amp; Discoverability</a:t>
            </a:r>
          </a:p>
          <a:p>
            <a:r>
              <a:rPr lang="en-US" sz="1000" dirty="0">
                <a:solidFill>
                  <a:schemeClr val="tx1"/>
                </a:solidFill>
              </a:rPr>
              <a:t>Published products searchable and consumable by AI agents and teams across the enterprise.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9D3D0E-A010-20A2-9D50-A0501F76BF81}"/>
              </a:ext>
            </a:extLst>
          </p:cNvPr>
          <p:cNvSpPr txBox="1"/>
          <p:nvPr/>
        </p:nvSpPr>
        <p:spPr>
          <a:xfrm>
            <a:off x="338665" y="675547"/>
            <a:ext cx="113600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 workbench where AI agents and humans collaborate to build governed data products.  Data </a:t>
            </a:r>
            <a:r>
              <a:rPr lang="en-US" dirty="0"/>
              <a:t>a</a:t>
            </a:r>
            <a:r>
              <a:rPr lang="en-US" sz="1800" dirty="0"/>
              <a:t>gent and skills automate the heavy lifting — engineers and product owners review and approve at every step.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E156BF22-59DE-20DB-F0DA-571D5AEE9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504" y="1581574"/>
            <a:ext cx="3559088" cy="198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39CA20-BB3B-5567-5F27-BC88BE0EE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379" y="2323769"/>
            <a:ext cx="4111443" cy="21445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403541-93EE-74F7-A420-EE722A83F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238" y="3977198"/>
            <a:ext cx="4302566" cy="1045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281535-5CF2-5A33-5DD1-7F0EC846E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454" y="2590799"/>
            <a:ext cx="3637560" cy="182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98473-2BC9-B6C0-BBD6-460F33A13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29" y="193508"/>
            <a:ext cx="11513142" cy="647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19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3E36D-A696-EEB3-EAB1-E7F1B271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238960D-30C6-EEED-6EEB-B1075729803D}"/>
              </a:ext>
            </a:extLst>
          </p:cNvPr>
          <p:cNvSpPr/>
          <p:nvPr/>
        </p:nvSpPr>
        <p:spPr>
          <a:xfrm>
            <a:off x="539510" y="968111"/>
            <a:ext cx="8374336" cy="2190562"/>
          </a:xfrm>
          <a:prstGeom prst="roundRect">
            <a:avLst>
              <a:gd name="adj" fmla="val 374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Workbench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700" dirty="0"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800" dirty="0">
              <a:solidFill>
                <a:srgbClr val="1E1E1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80AD9-41BD-FEEB-E54C-D2CC8E91B979}"/>
              </a:ext>
            </a:extLst>
          </p:cNvPr>
          <p:cNvSpPr txBox="1"/>
          <p:nvPr/>
        </p:nvSpPr>
        <p:spPr>
          <a:xfrm>
            <a:off x="274320" y="91440"/>
            <a:ext cx="11643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F172A"/>
                </a:solidFill>
                <a:latin typeface="Calibri"/>
              </a:rPr>
              <a:t>Data Workbench — 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237F1-E133-340C-026A-9BEFBC2D394D}"/>
              </a:ext>
            </a:extLst>
          </p:cNvPr>
          <p:cNvSpPr txBox="1"/>
          <p:nvPr/>
        </p:nvSpPr>
        <p:spPr>
          <a:xfrm>
            <a:off x="274320" y="512064"/>
            <a:ext cx="116430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Full layered stack · UI shells → Agent Harness → Skills Ecosystem → Data &amp; Memory</a:t>
            </a:r>
          </a:p>
        </p:txBody>
      </p:sp>
      <p:sp>
        <p:nvSpPr>
          <p:cNvPr id="201" name="Arrow 201">
            <a:extLst>
              <a:ext uri="{FF2B5EF4-FFF2-40B4-BE49-F238E27FC236}">
                <a16:creationId xmlns:a16="http://schemas.microsoft.com/office/drawing/2014/main" id="{512CBBAC-6F85-5835-C0A8-4FAF1DECD1C4}"/>
              </a:ext>
            </a:extLst>
          </p:cNvPr>
          <p:cNvSpPr/>
          <p:nvPr/>
        </p:nvSpPr>
        <p:spPr>
          <a:xfrm>
            <a:off x="274320" y="795528"/>
            <a:ext cx="1164305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4FB2DB9-1FE5-DAFA-5EAD-7C48F0377FE3}"/>
              </a:ext>
            </a:extLst>
          </p:cNvPr>
          <p:cNvSpPr txBox="1"/>
          <p:nvPr/>
        </p:nvSpPr>
        <p:spPr>
          <a:xfrm>
            <a:off x="1005634" y="5632219"/>
            <a:ext cx="7374193" cy="6584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★  What the Data Workbench uniquely brings — not provided by the agent harness out of the box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15ACEBE1-488F-8FDA-B1B1-8F794EE872C3}"/>
              </a:ext>
            </a:extLst>
          </p:cNvPr>
          <p:cNvSpPr txBox="1"/>
          <p:nvPr/>
        </p:nvSpPr>
        <p:spPr>
          <a:xfrm>
            <a:off x="7568665" y="1366982"/>
            <a:ext cx="239348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CED4DA"/>
                </a:solidFill>
                <a:latin typeface="Calibri"/>
              </a:rPr>
              <a:t>WORKBENCH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112A9E-A45F-DDC1-B75D-C64649B7F636}"/>
              </a:ext>
            </a:extLst>
          </p:cNvPr>
          <p:cNvSpPr/>
          <p:nvPr/>
        </p:nvSpPr>
        <p:spPr>
          <a:xfrm>
            <a:off x="728929" y="1283210"/>
            <a:ext cx="2560320" cy="620814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Product Owner Chat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700" dirty="0">
                <a:solidFill>
                  <a:schemeClr val="tx1"/>
                </a:solidFill>
              </a:rPr>
              <a:t>Guides Product Owners through product definition, naming, schema authoring, domain rules &amp; quality decisions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endParaRPr lang="en-US" sz="800" dirty="0">
              <a:solidFill>
                <a:srgbClr val="1E1E1E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F6338C0-E3FC-D776-3224-12BFA348B948}"/>
              </a:ext>
            </a:extLst>
          </p:cNvPr>
          <p:cNvSpPr/>
          <p:nvPr/>
        </p:nvSpPr>
        <p:spPr>
          <a:xfrm>
            <a:off x="3477922" y="1283210"/>
            <a:ext cx="2560320" cy="620814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Engineer Chat</a:t>
            </a:r>
            <a:endParaRPr lang="en-US" sz="9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700" dirty="0">
                <a:solidFill>
                  <a:srgbClr val="1E1E1E"/>
                </a:solidFill>
              </a:rPr>
              <a:t>Assists with discovery, mapping, quality assessment, graph queries, lineage &amp; pipeline decisions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19ED99-4E00-86C6-D27E-A61088DBC12D}"/>
              </a:ext>
            </a:extLst>
          </p:cNvPr>
          <p:cNvSpPr/>
          <p:nvPr/>
        </p:nvSpPr>
        <p:spPr>
          <a:xfrm>
            <a:off x="6226914" y="1283210"/>
            <a:ext cx="2560320" cy="620814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Semantic Layer Chat Lite</a:t>
            </a:r>
            <a:endParaRPr lang="en-US" sz="900" b="1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700" dirty="0">
                <a:solidFill>
                  <a:srgbClr val="1E1E1E"/>
                </a:solidFill>
              </a:rPr>
              <a:t>Business concept queries powered by the Neo4j domain ontology · Not a full semantic layer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E1C3448-E1AA-8B3C-BB05-1197CDAA16BD}"/>
              </a:ext>
            </a:extLst>
          </p:cNvPr>
          <p:cNvSpPr/>
          <p:nvPr/>
        </p:nvSpPr>
        <p:spPr>
          <a:xfrm>
            <a:off x="719496" y="2032026"/>
            <a:ext cx="3097793" cy="1005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Product Workbench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7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Data Product Owner Workbench UI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Import Data Product Contracts – Open Data Contract Standard (ODCS)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Create/Ingest Source-aligned Data Products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Create New Consumer-aligned Data Products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Data Product Marketplace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800" dirty="0">
              <a:solidFill>
                <a:srgbClr val="1E1E1E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6FAF180-C930-7BF0-CD22-0F2326A53F2B}"/>
              </a:ext>
            </a:extLst>
          </p:cNvPr>
          <p:cNvSpPr/>
          <p:nvPr/>
        </p:nvSpPr>
        <p:spPr>
          <a:xfrm>
            <a:off x="4040097" y="2032026"/>
            <a:ext cx="4768290" cy="1005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Data Engineer Workbench</a:t>
            </a: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BACE6EC-DDE0-4786-4985-2CD95E74C082}"/>
              </a:ext>
            </a:extLst>
          </p:cNvPr>
          <p:cNvSpPr/>
          <p:nvPr/>
        </p:nvSpPr>
        <p:spPr>
          <a:xfrm>
            <a:off x="539510" y="3271290"/>
            <a:ext cx="8374336" cy="1064223"/>
          </a:xfrm>
          <a:prstGeom prst="roundRect">
            <a:avLst>
              <a:gd name="adj" fmla="val 939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Agent Harness</a:t>
            </a: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8E5B7A8-96D1-6A23-DC43-E69E77D3939B}"/>
              </a:ext>
            </a:extLst>
          </p:cNvPr>
          <p:cNvSpPr/>
          <p:nvPr/>
        </p:nvSpPr>
        <p:spPr>
          <a:xfrm>
            <a:off x="776308" y="3527295"/>
            <a:ext cx="1920240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SDK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Compatible with any SDK supporting tool calling + multi-turn context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2FCCD97-ED08-1C91-E2AD-EF36B1111916}"/>
              </a:ext>
            </a:extLst>
          </p:cNvPr>
          <p:cNvSpPr/>
          <p:nvPr/>
        </p:nvSpPr>
        <p:spPr>
          <a:xfrm>
            <a:off x="2796968" y="3527295"/>
            <a:ext cx="1920240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Execution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Goal definition → Model call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→ Loop until goal achieved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→ Repeat as many iterations as needed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E78FD21-6592-3E22-7F83-5BF4D6268746}"/>
              </a:ext>
            </a:extLst>
          </p:cNvPr>
          <p:cNvSpPr/>
          <p:nvPr/>
        </p:nvSpPr>
        <p:spPr>
          <a:xfrm>
            <a:off x="4817628" y="3527295"/>
            <a:ext cx="1920240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LLM  Provider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Configurable LLM backend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Selectable capability tier;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Swappable per harness or per workflow stage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84826F0-1219-518F-FDCA-386720DDDF23}"/>
              </a:ext>
            </a:extLst>
          </p:cNvPr>
          <p:cNvSpPr/>
          <p:nvPr/>
        </p:nvSpPr>
        <p:spPr>
          <a:xfrm>
            <a:off x="6838288" y="3506978"/>
            <a:ext cx="1920240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Memory (Unstructured)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Agent SDK managed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Conversational + task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Separate from SQLite structured memory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87FD1E4-7959-1BE1-6602-78ADFF8C88C1}"/>
              </a:ext>
            </a:extLst>
          </p:cNvPr>
          <p:cNvSpPr/>
          <p:nvPr/>
        </p:nvSpPr>
        <p:spPr>
          <a:xfrm>
            <a:off x="9010480" y="977370"/>
            <a:ext cx="2665538" cy="5368566"/>
          </a:xfrm>
          <a:prstGeom prst="roundRect">
            <a:avLst>
              <a:gd name="adj" fmla="val 381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Data &amp; Memory Layer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A2DC75-3784-81A3-354D-B4E8A28924F0}"/>
              </a:ext>
            </a:extLst>
          </p:cNvPr>
          <p:cNvSpPr/>
          <p:nvPr/>
        </p:nvSpPr>
        <p:spPr>
          <a:xfrm>
            <a:off x="539511" y="4394444"/>
            <a:ext cx="6531342" cy="1951492"/>
          </a:xfrm>
          <a:prstGeom prst="roundRect">
            <a:avLst>
              <a:gd name="adj" fmla="val 657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Agent Skills Ecosystem</a:t>
            </a: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A01CCD2-EC3D-51C8-42CE-85E27C61DA0A}"/>
              </a:ext>
            </a:extLst>
          </p:cNvPr>
          <p:cNvSpPr/>
          <p:nvPr/>
        </p:nvSpPr>
        <p:spPr>
          <a:xfrm>
            <a:off x="7184235" y="4408116"/>
            <a:ext cx="1729611" cy="1937820"/>
          </a:xfrm>
          <a:prstGeom prst="roundRect">
            <a:avLst>
              <a:gd name="adj" fmla="val 64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Agent Tools</a:t>
            </a: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ED50B34-365A-E356-B377-5B7185965502}"/>
              </a:ext>
            </a:extLst>
          </p:cNvPr>
          <p:cNvSpPr/>
          <p:nvPr/>
        </p:nvSpPr>
        <p:spPr>
          <a:xfrm>
            <a:off x="784913" y="4676107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Discovery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Table + column metadata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FK + relationship discovery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Schema cataloguing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Multi-dialect SQL support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E1B5DBF-0B39-A983-35FF-F9EA5C6B5035}"/>
              </a:ext>
            </a:extLst>
          </p:cNvPr>
          <p:cNvSpPr/>
          <p:nvPr/>
        </p:nvSpPr>
        <p:spPr>
          <a:xfrm>
            <a:off x="2819826" y="4676107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Profiling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Statistical column profiling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Null rates · cardinality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Value distributions +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Row-level DQ signal detection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DBC9C46-3A6F-B70E-587F-B00C23F6DF4C}"/>
              </a:ext>
            </a:extLst>
          </p:cNvPr>
          <p:cNvSpPr/>
          <p:nvPr/>
        </p:nvSpPr>
        <p:spPr>
          <a:xfrm>
            <a:off x="4918048" y="4676107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Quality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Rule generation (profiling-based)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GX / </a:t>
            </a:r>
            <a:r>
              <a:rPr lang="en-US" sz="700" dirty="0" err="1">
                <a:solidFill>
                  <a:srgbClr val="1E1E1E"/>
                </a:solidFill>
              </a:rPr>
              <a:t>Pandera</a:t>
            </a:r>
            <a:r>
              <a:rPr lang="en-US" sz="700" dirty="0">
                <a:solidFill>
                  <a:srgbClr val="1E1E1E"/>
                </a:solidFill>
              </a:rPr>
              <a:t> test execution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DQ scoring + OSI readiness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Failure analysis + remediation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884A9BC-A7C5-0C79-BB6C-449FEFF1D288}"/>
              </a:ext>
            </a:extLst>
          </p:cNvPr>
          <p:cNvSpPr/>
          <p:nvPr/>
        </p:nvSpPr>
        <p:spPr>
          <a:xfrm>
            <a:off x="784913" y="5497796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Enrichment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Column name standardization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LLM-generated descriptions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Table relationship classification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Domain rule enhancement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891970A-23CA-BB1F-0289-D749DB0DA34F}"/>
              </a:ext>
            </a:extLst>
          </p:cNvPr>
          <p:cNvSpPr/>
          <p:nvPr/>
        </p:nvSpPr>
        <p:spPr>
          <a:xfrm>
            <a:off x="2818535" y="5497796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Materialization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ODCS spec → </a:t>
            </a:r>
            <a:r>
              <a:rPr lang="en-US" sz="700" dirty="0" err="1">
                <a:solidFill>
                  <a:srgbClr val="1E1E1E"/>
                </a:solidFill>
              </a:rPr>
              <a:t>dprod</a:t>
            </a:r>
            <a:r>
              <a:rPr lang="en-US" sz="700" dirty="0">
                <a:solidFill>
                  <a:srgbClr val="1E1E1E"/>
                </a:solidFill>
              </a:rPr>
              <a:t> graph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AI-assisted column mapping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Virtual view DDL generation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FK inference + bridge logic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C4B49E9-EA77-AED2-9199-3F6AC621FE01}"/>
              </a:ext>
            </a:extLst>
          </p:cNvPr>
          <p:cNvSpPr/>
          <p:nvPr/>
        </p:nvSpPr>
        <p:spPr>
          <a:xfrm>
            <a:off x="4915466" y="5497796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Analysis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Question analysis + QA eval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SQL generation + execution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OSI readiness scoring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Marketplace enrichment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EF2BA4-8C44-CCA0-C8C5-C0DD7D3CE686}"/>
              </a:ext>
            </a:extLst>
          </p:cNvPr>
          <p:cNvSpPr/>
          <p:nvPr/>
        </p:nvSpPr>
        <p:spPr>
          <a:xfrm>
            <a:off x="4113103" y="2296235"/>
            <a:ext cx="4646788" cy="5994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</a:rPr>
              <a:t>Data Engineer Workbench UI and CLI</a:t>
            </a:r>
            <a:endParaRPr lang="en-US" sz="700" dirty="0">
              <a:solidFill>
                <a:srgbClr val="1E1E1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Step-by-step workflow execution; run, reset, or rerun individual stages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Approve, replace, or escalate AI-suggested mappings, descriptions, and quality rule proposals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Project health at a glance: dataset/column counts, mapping coverage, DQ scores, and serving readiness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End-to-end column lineage from source datasets through transformations to published data product views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Author and review column-level transform logic (cast, lookup, </a:t>
            </a:r>
            <a:r>
              <a:rPr lang="en-US" sz="700" dirty="0" err="1">
                <a:solidFill>
                  <a:srgbClr val="1E1E1E"/>
                </a:solidFill>
              </a:rPr>
              <a:t>concat</a:t>
            </a:r>
            <a:r>
              <a:rPr lang="en-US" sz="700" dirty="0">
                <a:solidFill>
                  <a:srgbClr val="1E1E1E"/>
                </a:solidFill>
              </a:rPr>
              <a:t>, window) with Steward escalation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814248-C536-9C72-E92E-D3B9DF4158E8}"/>
              </a:ext>
            </a:extLst>
          </p:cNvPr>
          <p:cNvSpPr/>
          <p:nvPr/>
        </p:nvSpPr>
        <p:spPr>
          <a:xfrm>
            <a:off x="9102877" y="4306042"/>
            <a:ext cx="2491523" cy="968870"/>
          </a:xfrm>
          <a:prstGeom prst="roundRect">
            <a:avLst>
              <a:gd name="adj" fmla="val 1085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Structured Memory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Project data + scoping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Guide-me function history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Structured agent context + memory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Workflow + stage run records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Chat sessions + product requests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CLI reads from here to scope all commands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3064800-27B5-FEDE-4B03-AE2515669537}"/>
              </a:ext>
            </a:extLst>
          </p:cNvPr>
          <p:cNvSpPr/>
          <p:nvPr/>
        </p:nvSpPr>
        <p:spPr>
          <a:xfrm>
            <a:off x="9110348" y="5360927"/>
            <a:ext cx="2484052" cy="890964"/>
          </a:xfrm>
          <a:prstGeom prst="roundRect">
            <a:avLst>
              <a:gd name="adj" fmla="val 1272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Harness Memory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Agent SDK managed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Conversational + task state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Unstructured context per session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Harness-level persistence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Distinct from SQLite project/session memory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9F775EC-C845-F50B-5602-AFA9F3C91E83}"/>
              </a:ext>
            </a:extLst>
          </p:cNvPr>
          <p:cNvSpPr/>
          <p:nvPr/>
        </p:nvSpPr>
        <p:spPr>
          <a:xfrm>
            <a:off x="9110348" y="1331248"/>
            <a:ext cx="2491524" cy="2881452"/>
          </a:xfrm>
          <a:prstGeom prst="roundRect">
            <a:avLst>
              <a:gd name="adj" fmla="val 332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Knowledge Graph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System of Record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Discovery → Profiling → Enrichment → Products → Concepts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Context graph: understands all artifacts + interdependencies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Input to Agent Skills (read) · Output from Agent Skills (written)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Brain of the Workbench — all artifacts and their relationships live here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br>
              <a:rPr lang="en-US" sz="700" dirty="0">
                <a:solidFill>
                  <a:srgbClr val="1E1E1E"/>
                </a:solidFill>
              </a:rPr>
            </a:br>
            <a:r>
              <a:rPr lang="en-US" sz="700" b="1" dirty="0">
                <a:solidFill>
                  <a:srgbClr val="1E1E1E"/>
                </a:solidFill>
              </a:rPr>
              <a:t>Ontologies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DCAT-2 </a:t>
            </a:r>
            <a:r>
              <a:rPr lang="en-US" sz="700" dirty="0">
                <a:solidFill>
                  <a:srgbClr val="1E1E1E"/>
                </a:solidFill>
              </a:rPr>
              <a:t>(W3C Data Catalog Vocabulary) — Structures data products, datasets,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PROV-O </a:t>
            </a:r>
            <a:r>
              <a:rPr lang="en-US" sz="700" dirty="0">
                <a:solidFill>
                  <a:srgbClr val="1E1E1E"/>
                </a:solidFill>
              </a:rPr>
              <a:t>(W3C Provenance Ontology) — Every review, approval, rejection, and edit recorded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SHACL </a:t>
            </a:r>
            <a:r>
              <a:rPr lang="en-US" sz="700" dirty="0">
                <a:solidFill>
                  <a:srgbClr val="1E1E1E"/>
                </a:solidFill>
              </a:rPr>
              <a:t>(Shapes Constraint Language) — Data quality rules expressed constraints on columns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 err="1">
                <a:solidFill>
                  <a:srgbClr val="1E1E1E"/>
                </a:solidFill>
              </a:rPr>
              <a:t>DProd</a:t>
            </a:r>
            <a:r>
              <a:rPr lang="en-US" sz="700" b="1" dirty="0">
                <a:solidFill>
                  <a:srgbClr val="1E1E1E"/>
                </a:solidFill>
              </a:rPr>
              <a:t> </a:t>
            </a:r>
            <a:r>
              <a:rPr lang="en-US" sz="700" dirty="0">
                <a:solidFill>
                  <a:srgbClr val="1E1E1E"/>
                </a:solidFill>
              </a:rPr>
              <a:t>(Data Product Graph — custom) — Core product ontology: :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ODCS </a:t>
            </a:r>
            <a:r>
              <a:rPr lang="en-US" sz="700" dirty="0">
                <a:solidFill>
                  <a:srgbClr val="1E1E1E"/>
                </a:solidFill>
              </a:rPr>
              <a:t>(Open Data Contract Standard) — Spec-layer format for authoring contracts; 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Custom Domain Ontology</a:t>
            </a:r>
            <a:r>
              <a:rPr lang="en-US" sz="700" dirty="0">
                <a:solidFill>
                  <a:srgbClr val="1E1E1E"/>
                </a:solidFill>
              </a:rPr>
              <a:t> — Business concept graph powering the Semantic Layer Chat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CBA2F0-7A84-16EB-FE6F-411F53819E20}"/>
              </a:ext>
            </a:extLst>
          </p:cNvPr>
          <p:cNvSpPr/>
          <p:nvPr/>
        </p:nvSpPr>
        <p:spPr>
          <a:xfrm>
            <a:off x="7370762" y="4671263"/>
            <a:ext cx="1437625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Built-in Harness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Read · Write · Edit · Bash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Grep · Glob · </a:t>
            </a:r>
            <a:r>
              <a:rPr lang="en-US" sz="700" dirty="0" err="1">
                <a:solidFill>
                  <a:srgbClr val="1E1E1E"/>
                </a:solidFill>
              </a:rPr>
              <a:t>WebFetch</a:t>
            </a:r>
            <a:endParaRPr lang="en-US" sz="700" dirty="0">
              <a:solidFill>
                <a:srgbClr val="1E1E1E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Native harness toolset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DDCFF2-142D-B7ED-F9AC-BBE17D7EC995}"/>
              </a:ext>
            </a:extLst>
          </p:cNvPr>
          <p:cNvSpPr/>
          <p:nvPr/>
        </p:nvSpPr>
        <p:spPr>
          <a:xfrm>
            <a:off x="7360448" y="5469276"/>
            <a:ext cx="1437625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Model Context Protocol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Custom, enterprise and ecosystem tools</a:t>
            </a:r>
          </a:p>
        </p:txBody>
      </p:sp>
    </p:spTree>
    <p:extLst>
      <p:ext uri="{BB962C8B-B14F-4D97-AF65-F5344CB8AC3E}">
        <p14:creationId xmlns:p14="http://schemas.microsoft.com/office/powerpoint/2010/main" val="2558233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8BFBB-1E3E-0DDB-2A0D-A37D2BD5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C071BB7-F048-423B-2034-B70B17271E01}"/>
              </a:ext>
            </a:extLst>
          </p:cNvPr>
          <p:cNvSpPr/>
          <p:nvPr/>
        </p:nvSpPr>
        <p:spPr>
          <a:xfrm>
            <a:off x="539510" y="968111"/>
            <a:ext cx="8374336" cy="2190562"/>
          </a:xfrm>
          <a:prstGeom prst="roundRect">
            <a:avLst>
              <a:gd name="adj" fmla="val 374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Workbench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700" dirty="0"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800" dirty="0">
              <a:solidFill>
                <a:srgbClr val="1E1E1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ED9131-4524-7656-A52B-8411BB49E14E}"/>
              </a:ext>
            </a:extLst>
          </p:cNvPr>
          <p:cNvSpPr txBox="1"/>
          <p:nvPr/>
        </p:nvSpPr>
        <p:spPr>
          <a:xfrm>
            <a:off x="274320" y="91440"/>
            <a:ext cx="11643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F172A"/>
                </a:solidFill>
                <a:latin typeface="Calibri"/>
              </a:rPr>
              <a:t>Data Workbench — 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AF132-DA19-18D9-4473-670403A0CF2B}"/>
              </a:ext>
            </a:extLst>
          </p:cNvPr>
          <p:cNvSpPr txBox="1"/>
          <p:nvPr/>
        </p:nvSpPr>
        <p:spPr>
          <a:xfrm>
            <a:off x="274320" y="512064"/>
            <a:ext cx="116430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Full layered stack · UI shells → Agent Harness → Skills Ecosystem → Data &amp; Memory</a:t>
            </a:r>
          </a:p>
        </p:txBody>
      </p:sp>
      <p:sp>
        <p:nvSpPr>
          <p:cNvPr id="201" name="Arrow 201">
            <a:extLst>
              <a:ext uri="{FF2B5EF4-FFF2-40B4-BE49-F238E27FC236}">
                <a16:creationId xmlns:a16="http://schemas.microsoft.com/office/drawing/2014/main" id="{BB4741A1-45EA-268A-7302-B92A7BF0F886}"/>
              </a:ext>
            </a:extLst>
          </p:cNvPr>
          <p:cNvSpPr/>
          <p:nvPr/>
        </p:nvSpPr>
        <p:spPr>
          <a:xfrm>
            <a:off x="274320" y="795528"/>
            <a:ext cx="1164305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ECA8ABF4-B66A-871E-C38D-9825A005E8CD}"/>
              </a:ext>
            </a:extLst>
          </p:cNvPr>
          <p:cNvSpPr txBox="1"/>
          <p:nvPr/>
        </p:nvSpPr>
        <p:spPr>
          <a:xfrm>
            <a:off x="1005634" y="5632219"/>
            <a:ext cx="7374193" cy="6584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★  What the Data Workbench uniquely brings — not provided by the agent harness out of the box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39450ED8-FA0E-7D4B-1A7D-92171A56446B}"/>
              </a:ext>
            </a:extLst>
          </p:cNvPr>
          <p:cNvSpPr txBox="1"/>
          <p:nvPr/>
        </p:nvSpPr>
        <p:spPr>
          <a:xfrm>
            <a:off x="7568665" y="1366982"/>
            <a:ext cx="239348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CED4DA"/>
                </a:solidFill>
                <a:latin typeface="Calibri"/>
              </a:rPr>
              <a:t>WORKBENCH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109991A-AD6C-8247-CB59-881CDD7681B4}"/>
              </a:ext>
            </a:extLst>
          </p:cNvPr>
          <p:cNvSpPr/>
          <p:nvPr/>
        </p:nvSpPr>
        <p:spPr>
          <a:xfrm>
            <a:off x="728929" y="1283210"/>
            <a:ext cx="2560320" cy="620814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Product Owner Chat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700" dirty="0">
                <a:solidFill>
                  <a:schemeClr val="tx1"/>
                </a:solidFill>
              </a:rPr>
              <a:t>Guides Product Owners through product definition, naming, schema authoring, domain rules &amp; quality decisions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endParaRPr lang="en-US" sz="800" dirty="0">
              <a:solidFill>
                <a:srgbClr val="1E1E1E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13F7861-1DC0-B632-CC12-1EC95BB488D7}"/>
              </a:ext>
            </a:extLst>
          </p:cNvPr>
          <p:cNvSpPr/>
          <p:nvPr/>
        </p:nvSpPr>
        <p:spPr>
          <a:xfrm>
            <a:off x="3477922" y="1283210"/>
            <a:ext cx="2560320" cy="620814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Engineer Chat</a:t>
            </a:r>
            <a:endParaRPr lang="en-US" sz="9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700" dirty="0">
                <a:solidFill>
                  <a:srgbClr val="1E1E1E"/>
                </a:solidFill>
              </a:rPr>
              <a:t>Assists with discovery, mapping, quality assessment, graph queries, lineage &amp; pipeline decisions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5F7252D-7B46-C8AA-2B91-CFA48277C9A2}"/>
              </a:ext>
            </a:extLst>
          </p:cNvPr>
          <p:cNvSpPr/>
          <p:nvPr/>
        </p:nvSpPr>
        <p:spPr>
          <a:xfrm>
            <a:off x="6226914" y="1283210"/>
            <a:ext cx="2560320" cy="620814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Semantic Layer Chat Lite</a:t>
            </a:r>
            <a:endParaRPr lang="en-US" sz="900" b="1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700" dirty="0">
                <a:solidFill>
                  <a:srgbClr val="1E1E1E"/>
                </a:solidFill>
              </a:rPr>
              <a:t>Business concept queries powered by the Neo4j domain ontology · Not a full semantic layer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32BAD6D-0EA3-A1EF-CD63-F70000068B7C}"/>
              </a:ext>
            </a:extLst>
          </p:cNvPr>
          <p:cNvSpPr/>
          <p:nvPr/>
        </p:nvSpPr>
        <p:spPr>
          <a:xfrm>
            <a:off x="719496" y="2032026"/>
            <a:ext cx="3097793" cy="1005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Product Workbench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7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Data Product Owner Workbench UI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Import Data Product Contracts – Open Data Contract Standard (ODCS)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Create/Ingest Source-aligned Data Products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Create New Consumer-aligned Data Products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Data Product Marketplace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800" dirty="0">
              <a:solidFill>
                <a:srgbClr val="1E1E1E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E0AAA2-430B-6331-DC67-EAB3420A93DE}"/>
              </a:ext>
            </a:extLst>
          </p:cNvPr>
          <p:cNvSpPr/>
          <p:nvPr/>
        </p:nvSpPr>
        <p:spPr>
          <a:xfrm>
            <a:off x="4040097" y="2032026"/>
            <a:ext cx="4768290" cy="1005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Data Engineer Workbench</a:t>
            </a: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58A0F3F-34F2-3982-C1D2-C9D2CBF0A2E2}"/>
              </a:ext>
            </a:extLst>
          </p:cNvPr>
          <p:cNvSpPr/>
          <p:nvPr/>
        </p:nvSpPr>
        <p:spPr>
          <a:xfrm>
            <a:off x="539510" y="3271290"/>
            <a:ext cx="8374336" cy="1064223"/>
          </a:xfrm>
          <a:prstGeom prst="roundRect">
            <a:avLst>
              <a:gd name="adj" fmla="val 939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Agent Harness</a:t>
            </a: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B97491-944A-2EE7-2A3F-32213D565F92}"/>
              </a:ext>
            </a:extLst>
          </p:cNvPr>
          <p:cNvSpPr/>
          <p:nvPr/>
        </p:nvSpPr>
        <p:spPr>
          <a:xfrm>
            <a:off x="776308" y="3527295"/>
            <a:ext cx="1920240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SDK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Compatible with any SDK supporting tool calling + multi-turn context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911BC9B-CFAB-8001-A8CE-9072D05ED564}"/>
              </a:ext>
            </a:extLst>
          </p:cNvPr>
          <p:cNvSpPr/>
          <p:nvPr/>
        </p:nvSpPr>
        <p:spPr>
          <a:xfrm>
            <a:off x="2796968" y="3527295"/>
            <a:ext cx="1920240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Execution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Goal definition → Model call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→ Loop until goal achieved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→ Repeat as many iterations as needed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DF1A822-CECA-C6E6-3564-005C31D2F223}"/>
              </a:ext>
            </a:extLst>
          </p:cNvPr>
          <p:cNvSpPr/>
          <p:nvPr/>
        </p:nvSpPr>
        <p:spPr>
          <a:xfrm>
            <a:off x="4817628" y="3527295"/>
            <a:ext cx="1920240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LLM  Provider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Configurable LLM backend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Selectable capability tier;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Swappable per harness or per workflow stage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0A450B-2DB7-0D8D-2D67-E92F4893D063}"/>
              </a:ext>
            </a:extLst>
          </p:cNvPr>
          <p:cNvSpPr/>
          <p:nvPr/>
        </p:nvSpPr>
        <p:spPr>
          <a:xfrm>
            <a:off x="6838288" y="3506978"/>
            <a:ext cx="1920240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Memory (Unstructured)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Agent SDK managed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Conversational + task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Separate from SQLite structured memory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7BEFF7-E498-7A58-8B5E-A2A9B0394E70}"/>
              </a:ext>
            </a:extLst>
          </p:cNvPr>
          <p:cNvSpPr/>
          <p:nvPr/>
        </p:nvSpPr>
        <p:spPr>
          <a:xfrm>
            <a:off x="9010480" y="977370"/>
            <a:ext cx="2665538" cy="5368566"/>
          </a:xfrm>
          <a:prstGeom prst="roundRect">
            <a:avLst>
              <a:gd name="adj" fmla="val 381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Data &amp; Memory Layer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B53AFD-D866-7654-998B-00355065DF3A}"/>
              </a:ext>
            </a:extLst>
          </p:cNvPr>
          <p:cNvSpPr/>
          <p:nvPr/>
        </p:nvSpPr>
        <p:spPr>
          <a:xfrm>
            <a:off x="539511" y="4394444"/>
            <a:ext cx="6531342" cy="1951492"/>
          </a:xfrm>
          <a:prstGeom prst="roundRect">
            <a:avLst>
              <a:gd name="adj" fmla="val 657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Agent Skills Ecosystem</a:t>
            </a: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C5D4105-F539-B247-AF8C-BBD1B8584344}"/>
              </a:ext>
            </a:extLst>
          </p:cNvPr>
          <p:cNvSpPr/>
          <p:nvPr/>
        </p:nvSpPr>
        <p:spPr>
          <a:xfrm>
            <a:off x="7184235" y="4408116"/>
            <a:ext cx="1729611" cy="1937820"/>
          </a:xfrm>
          <a:prstGeom prst="roundRect">
            <a:avLst>
              <a:gd name="adj" fmla="val 64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rgbClr val="1E1E1E"/>
                </a:solidFill>
              </a:rPr>
              <a:t>Agent Tools</a:t>
            </a: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  <a:p>
            <a:pPr algn="ctr"/>
            <a:endParaRPr lang="en-US" sz="800" b="1" dirty="0">
              <a:solidFill>
                <a:srgbClr val="1E1E1E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6F657BD-F6A1-60D0-5F00-F3186B39E59A}"/>
              </a:ext>
            </a:extLst>
          </p:cNvPr>
          <p:cNvSpPr/>
          <p:nvPr/>
        </p:nvSpPr>
        <p:spPr>
          <a:xfrm>
            <a:off x="784913" y="4676107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Discovery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Table + column metadata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FK + relationship discovery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Schema cataloguing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Multi-dialect SQL support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47910CF-5C25-47BB-249E-12F34BCAD776}"/>
              </a:ext>
            </a:extLst>
          </p:cNvPr>
          <p:cNvSpPr/>
          <p:nvPr/>
        </p:nvSpPr>
        <p:spPr>
          <a:xfrm>
            <a:off x="2819826" y="4676107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Profiling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Statistical column profiling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Null rates · cardinality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Value distributions +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Row-level DQ signal detection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2C4A69A-13D3-755F-427B-8647C0A83450}"/>
              </a:ext>
            </a:extLst>
          </p:cNvPr>
          <p:cNvSpPr/>
          <p:nvPr/>
        </p:nvSpPr>
        <p:spPr>
          <a:xfrm>
            <a:off x="4918048" y="4676107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Quality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Rule generation (profiling-based)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GX / </a:t>
            </a:r>
            <a:r>
              <a:rPr lang="en-US" sz="700" dirty="0" err="1">
                <a:solidFill>
                  <a:srgbClr val="1E1E1E"/>
                </a:solidFill>
              </a:rPr>
              <a:t>Pandera</a:t>
            </a:r>
            <a:r>
              <a:rPr lang="en-US" sz="700" dirty="0">
                <a:solidFill>
                  <a:srgbClr val="1E1E1E"/>
                </a:solidFill>
              </a:rPr>
              <a:t> test execution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DQ scoring + OSI readiness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Failure analysis + remediation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B5BFE0A-4C44-D809-C512-515AE82C8B47}"/>
              </a:ext>
            </a:extLst>
          </p:cNvPr>
          <p:cNvSpPr/>
          <p:nvPr/>
        </p:nvSpPr>
        <p:spPr>
          <a:xfrm>
            <a:off x="784913" y="5497796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Enrichment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Column name standardization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LLM-generated descriptions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Table relationship classification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Domain rule enhancement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B90B93D-62C0-71BE-EC3F-F85D74683D0D}"/>
              </a:ext>
            </a:extLst>
          </p:cNvPr>
          <p:cNvSpPr/>
          <p:nvPr/>
        </p:nvSpPr>
        <p:spPr>
          <a:xfrm>
            <a:off x="2818535" y="5497796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Materialization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ODCS spec → </a:t>
            </a:r>
            <a:r>
              <a:rPr lang="en-US" sz="700" dirty="0" err="1">
                <a:solidFill>
                  <a:srgbClr val="1E1E1E"/>
                </a:solidFill>
              </a:rPr>
              <a:t>dprod</a:t>
            </a:r>
            <a:r>
              <a:rPr lang="en-US" sz="700" dirty="0">
                <a:solidFill>
                  <a:srgbClr val="1E1E1E"/>
                </a:solidFill>
              </a:rPr>
              <a:t> graph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AI-assisted column mapping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Virtual view DDL generation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FK inference + bridge logic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C315C95-D3F7-13D1-0AE5-A189725DDDA0}"/>
              </a:ext>
            </a:extLst>
          </p:cNvPr>
          <p:cNvSpPr/>
          <p:nvPr/>
        </p:nvSpPr>
        <p:spPr>
          <a:xfrm>
            <a:off x="4915466" y="5497796"/>
            <a:ext cx="1920240" cy="7315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Data Analysis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Question analysis + QA eval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SQL generation + execution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OSI readiness scoring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Marketplace enrichment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241CAA-998A-47EB-414E-14185C2E94D3}"/>
              </a:ext>
            </a:extLst>
          </p:cNvPr>
          <p:cNvSpPr/>
          <p:nvPr/>
        </p:nvSpPr>
        <p:spPr>
          <a:xfrm>
            <a:off x="4113103" y="2296235"/>
            <a:ext cx="4646788" cy="5994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chemeClr val="tx1"/>
                </a:solidFill>
              </a:rPr>
              <a:t>Data Engineer Workbench UI and CLI</a:t>
            </a:r>
            <a:endParaRPr lang="en-US" sz="700" dirty="0">
              <a:solidFill>
                <a:srgbClr val="1E1E1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Step-by-step workflow execution; run, reset, or rerun individual stages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Approve, replace, or escalate AI-suggested mappings, descriptions, and quality rule proposals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Project health at a glance: dataset/column counts, mapping coverage, DQ scores, and serving readiness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End-to-end column lineage from source datasets through transformations to published data product views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Author and review column-level transform logic (cast, lookup, </a:t>
            </a:r>
            <a:r>
              <a:rPr lang="en-US" sz="700" dirty="0" err="1">
                <a:solidFill>
                  <a:srgbClr val="1E1E1E"/>
                </a:solidFill>
              </a:rPr>
              <a:t>concat</a:t>
            </a:r>
            <a:r>
              <a:rPr lang="en-US" sz="700" dirty="0">
                <a:solidFill>
                  <a:srgbClr val="1E1E1E"/>
                </a:solidFill>
              </a:rPr>
              <a:t>, window) with Steward escalation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01C9F09-1994-D8DE-2618-64CA39ACEE28}"/>
              </a:ext>
            </a:extLst>
          </p:cNvPr>
          <p:cNvSpPr/>
          <p:nvPr/>
        </p:nvSpPr>
        <p:spPr>
          <a:xfrm>
            <a:off x="9102877" y="4306042"/>
            <a:ext cx="2491523" cy="968870"/>
          </a:xfrm>
          <a:prstGeom prst="roundRect">
            <a:avLst>
              <a:gd name="adj" fmla="val 1085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Structured Memory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Project data + scoping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Guide-me function history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Structured agent context + memory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Workflow + stage run records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Chat sessions + product requests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CLI reads from here to scope all commands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6BD887F-60DF-7AC7-860D-BBE17C1A00A3}"/>
              </a:ext>
            </a:extLst>
          </p:cNvPr>
          <p:cNvSpPr/>
          <p:nvPr/>
        </p:nvSpPr>
        <p:spPr>
          <a:xfrm>
            <a:off x="9110348" y="5360927"/>
            <a:ext cx="2484052" cy="890964"/>
          </a:xfrm>
          <a:prstGeom prst="roundRect">
            <a:avLst>
              <a:gd name="adj" fmla="val 1272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Harness Memory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Agent SDK managed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Conversational + task state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Unstructured context per session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Harness-level persistence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Distinct from SQLite project/session memory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C04CF62-6DD4-8681-59DE-16FFEF8FC0C5}"/>
              </a:ext>
            </a:extLst>
          </p:cNvPr>
          <p:cNvSpPr/>
          <p:nvPr/>
        </p:nvSpPr>
        <p:spPr>
          <a:xfrm>
            <a:off x="9110348" y="1331248"/>
            <a:ext cx="2491524" cy="2881452"/>
          </a:xfrm>
          <a:prstGeom prst="roundRect">
            <a:avLst>
              <a:gd name="adj" fmla="val 332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Knowledge Graph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 dirty="0">
                <a:solidFill>
                  <a:srgbClr val="1E1E1E"/>
                </a:solidFill>
              </a:rPr>
              <a:t>System of Record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Discovery → Profiling → Enrichment → Products → Concepts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Context graph: understands all artifacts + interdependencies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Input to Agent Skills (read) · Output from Agent Skills (written)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E1E1E"/>
                </a:solidFill>
              </a:rPr>
              <a:t>Brain of the Workbench — all artifacts and their relationships live here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br>
              <a:rPr lang="en-US" sz="700" dirty="0">
                <a:solidFill>
                  <a:srgbClr val="1E1E1E"/>
                </a:solidFill>
              </a:rPr>
            </a:br>
            <a:r>
              <a:rPr lang="en-US" sz="700" b="1" dirty="0">
                <a:solidFill>
                  <a:srgbClr val="1E1E1E"/>
                </a:solidFill>
              </a:rPr>
              <a:t>Ontologies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DCAT-2 </a:t>
            </a:r>
            <a:r>
              <a:rPr lang="en-US" sz="700" dirty="0">
                <a:solidFill>
                  <a:srgbClr val="1E1E1E"/>
                </a:solidFill>
              </a:rPr>
              <a:t>(W3C Data Catalog Vocabulary) — Structures data products, datasets,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PROV-O </a:t>
            </a:r>
            <a:r>
              <a:rPr lang="en-US" sz="700" dirty="0">
                <a:solidFill>
                  <a:srgbClr val="1E1E1E"/>
                </a:solidFill>
              </a:rPr>
              <a:t>(W3C Provenance Ontology) — Every review, approval, rejection, and edit recorded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SHACL </a:t>
            </a:r>
            <a:r>
              <a:rPr lang="en-US" sz="700" dirty="0">
                <a:solidFill>
                  <a:srgbClr val="1E1E1E"/>
                </a:solidFill>
              </a:rPr>
              <a:t>(Shapes Constraint Language) — Data quality rules expressed constraints on columns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 err="1">
                <a:solidFill>
                  <a:srgbClr val="1E1E1E"/>
                </a:solidFill>
              </a:rPr>
              <a:t>DProd</a:t>
            </a:r>
            <a:r>
              <a:rPr lang="en-US" sz="700" b="1" dirty="0">
                <a:solidFill>
                  <a:srgbClr val="1E1E1E"/>
                </a:solidFill>
              </a:rPr>
              <a:t> </a:t>
            </a:r>
            <a:r>
              <a:rPr lang="en-US" sz="700" dirty="0">
                <a:solidFill>
                  <a:srgbClr val="1E1E1E"/>
                </a:solidFill>
              </a:rPr>
              <a:t>(Data Product Graph — custom) — Core product ontology: :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ODCS </a:t>
            </a:r>
            <a:r>
              <a:rPr lang="en-US" sz="700" dirty="0">
                <a:solidFill>
                  <a:srgbClr val="1E1E1E"/>
                </a:solidFill>
              </a:rPr>
              <a:t>(Open Data Contract Standard) — Spec-layer format for authoring contracts; 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700" b="1" dirty="0">
                <a:solidFill>
                  <a:srgbClr val="1E1E1E"/>
                </a:solidFill>
              </a:rPr>
              <a:t>Custom Domain Ontology</a:t>
            </a:r>
            <a:r>
              <a:rPr lang="en-US" sz="700" dirty="0">
                <a:solidFill>
                  <a:srgbClr val="1E1E1E"/>
                </a:solidFill>
              </a:rPr>
              <a:t> — Business concept graph powering the Semantic Layer Chat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7F6B5A-10C4-73F8-3925-3922709558FA}"/>
              </a:ext>
            </a:extLst>
          </p:cNvPr>
          <p:cNvSpPr/>
          <p:nvPr/>
        </p:nvSpPr>
        <p:spPr>
          <a:xfrm>
            <a:off x="7370762" y="4671263"/>
            <a:ext cx="1437625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Built-in Harness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Read · Write · Edit · Bash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Grep · Glob · </a:t>
            </a:r>
            <a:r>
              <a:rPr lang="en-US" sz="700" dirty="0" err="1">
                <a:solidFill>
                  <a:srgbClr val="1E1E1E"/>
                </a:solidFill>
              </a:rPr>
              <a:t>WebFetch</a:t>
            </a:r>
            <a:endParaRPr lang="en-US" sz="700" dirty="0">
              <a:solidFill>
                <a:srgbClr val="1E1E1E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Native harness toolset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E29E70-810C-198B-2C99-03C9EA85E8DB}"/>
              </a:ext>
            </a:extLst>
          </p:cNvPr>
          <p:cNvSpPr/>
          <p:nvPr/>
        </p:nvSpPr>
        <p:spPr>
          <a:xfrm>
            <a:off x="7360448" y="5469276"/>
            <a:ext cx="1437625" cy="6854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E1E1E"/>
                </a:solidFill>
              </a:rPr>
              <a:t>Model Context Protocol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E1E1E"/>
                </a:solidFill>
              </a:rPr>
              <a:t>Custom, enterprise and ecosystem tools</a:t>
            </a:r>
          </a:p>
        </p:txBody>
      </p:sp>
      <p:pic>
        <p:nvPicPr>
          <p:cNvPr id="4" name="Picture 10" descr="Anthropic Icon icon - Free Download PNG &amp; SVG | Streamline">
            <a:extLst>
              <a:ext uri="{FF2B5EF4-FFF2-40B4-BE49-F238E27FC236}">
                <a16:creationId xmlns:a16="http://schemas.microsoft.com/office/drawing/2014/main" id="{0F940C52-F011-A21D-C572-959CE9393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3572" y="249257"/>
            <a:ext cx="429224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AE346E-51B5-4682-B6BA-3FCDCAEEE5FF}"/>
              </a:ext>
            </a:extLst>
          </p:cNvPr>
          <p:cNvSpPr txBox="1"/>
          <p:nvPr/>
        </p:nvSpPr>
        <p:spPr>
          <a:xfrm>
            <a:off x="415617" y="3766965"/>
            <a:ext cx="1545336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Claude Code</a:t>
            </a:r>
          </a:p>
          <a:p>
            <a:r>
              <a:rPr lang="en-US" sz="1200" dirty="0"/>
              <a:t>Claude Agent SDK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6E8EE-9ED8-6FEA-49A6-1573FDBEFDD5}"/>
              </a:ext>
            </a:extLst>
          </p:cNvPr>
          <p:cNvSpPr txBox="1"/>
          <p:nvPr/>
        </p:nvSpPr>
        <p:spPr>
          <a:xfrm>
            <a:off x="2877011" y="3763554"/>
            <a:ext cx="1545336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Claude 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8F4CB5-39BB-0D22-11AE-56590087E0C0}"/>
              </a:ext>
            </a:extLst>
          </p:cNvPr>
          <p:cNvSpPr txBox="1"/>
          <p:nvPr/>
        </p:nvSpPr>
        <p:spPr>
          <a:xfrm>
            <a:off x="4998091" y="3759243"/>
            <a:ext cx="1545336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Anthropic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A94D5-8E02-1BF2-955B-7069E800E80D}"/>
              </a:ext>
            </a:extLst>
          </p:cNvPr>
          <p:cNvSpPr txBox="1"/>
          <p:nvPr/>
        </p:nvSpPr>
        <p:spPr>
          <a:xfrm>
            <a:off x="232966" y="1648898"/>
            <a:ext cx="1545336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React Frontend</a:t>
            </a:r>
          </a:p>
          <a:p>
            <a:r>
              <a:rPr lang="en-US" sz="1200" dirty="0"/>
              <a:t>Python backend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FAC8C-9D8B-636B-4764-058763AE0150}"/>
              </a:ext>
            </a:extLst>
          </p:cNvPr>
          <p:cNvSpPr txBox="1"/>
          <p:nvPr/>
        </p:nvSpPr>
        <p:spPr>
          <a:xfrm>
            <a:off x="10480128" y="1792085"/>
            <a:ext cx="982943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Neo4J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F23C2-D4D7-7A44-787B-F23DD101CC33}"/>
              </a:ext>
            </a:extLst>
          </p:cNvPr>
          <p:cNvSpPr txBox="1"/>
          <p:nvPr/>
        </p:nvSpPr>
        <p:spPr>
          <a:xfrm>
            <a:off x="10669546" y="4471212"/>
            <a:ext cx="982943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 err="1"/>
              <a:t>sqllite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6574D-3DFA-8E08-6A42-5A3B07B085FD}"/>
              </a:ext>
            </a:extLst>
          </p:cNvPr>
          <p:cNvSpPr txBox="1"/>
          <p:nvPr/>
        </p:nvSpPr>
        <p:spPr>
          <a:xfrm>
            <a:off x="10934432" y="5456753"/>
            <a:ext cx="982943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Claude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DE67A9-DD3A-6DF6-6983-ADB252CCB540}"/>
              </a:ext>
            </a:extLst>
          </p:cNvPr>
          <p:cNvSpPr txBox="1"/>
          <p:nvPr/>
        </p:nvSpPr>
        <p:spPr>
          <a:xfrm>
            <a:off x="7675610" y="4730393"/>
            <a:ext cx="982943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Claude tools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BEA32-9DB1-49B8-B404-53AAF99206FE}"/>
              </a:ext>
            </a:extLst>
          </p:cNvPr>
          <p:cNvSpPr txBox="1"/>
          <p:nvPr/>
        </p:nvSpPr>
        <p:spPr>
          <a:xfrm>
            <a:off x="4506619" y="4478676"/>
            <a:ext cx="1920240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Custom Claude Agent Skills</a:t>
            </a:r>
          </a:p>
        </p:txBody>
      </p:sp>
    </p:spTree>
    <p:extLst>
      <p:ext uri="{BB962C8B-B14F-4D97-AF65-F5344CB8AC3E}">
        <p14:creationId xmlns:p14="http://schemas.microsoft.com/office/powerpoint/2010/main" val="141996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43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Data Workbench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12064"/>
            <a:ext cx="116430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Full layered stack · UI shells → Agent Harness → Skills Ecosystem → Data &amp; Memory</a:t>
            </a:r>
          </a:p>
        </p:txBody>
      </p:sp>
      <p:sp>
        <p:nvSpPr>
          <p:cNvPr id="201" name="Arrow 201"/>
          <p:cNvSpPr/>
          <p:nvPr/>
        </p:nvSpPr>
        <p:spPr>
          <a:xfrm>
            <a:off x="274320" y="795528"/>
            <a:ext cx="1164305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" name="Rounded Rectangle 203"/>
          <p:cNvSpPr/>
          <p:nvPr/>
        </p:nvSpPr>
        <p:spPr>
          <a:xfrm>
            <a:off x="2450889" y="1200518"/>
            <a:ext cx="2280732" cy="421382"/>
          </a:xfrm>
          <a:prstGeom prst="roundRect">
            <a:avLst/>
          </a:prstGeom>
          <a:solidFill>
            <a:srgbClr val="DBE4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2450889" y="1345368"/>
            <a:ext cx="2280732" cy="131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Guides POs through product definition, naming,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schema authoring, domain rules &amp; quality decisions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2450889" y="1200518"/>
            <a:ext cx="2280732" cy="147483"/>
          </a:xfrm>
          <a:prstGeom prst="roundRect">
            <a:avLst/>
          </a:prstGeom>
          <a:solidFill>
            <a:srgbClr val="3B82F6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7" name="Rounded Rectangle 206"/>
          <p:cNvSpPr/>
          <p:nvPr/>
        </p:nvSpPr>
        <p:spPr>
          <a:xfrm>
            <a:off x="2450889" y="1274260"/>
            <a:ext cx="2280732" cy="73741"/>
          </a:xfrm>
          <a:prstGeom prst="roundRect">
            <a:avLst/>
          </a:prstGeom>
          <a:solidFill>
            <a:srgbClr val="3B82F6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2450889" y="1274919"/>
            <a:ext cx="2280732" cy="7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Product Owner Chat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958114" y="1200518"/>
            <a:ext cx="2280732" cy="421382"/>
          </a:xfrm>
          <a:prstGeom prst="roundRect">
            <a:avLst/>
          </a:prstGeom>
          <a:solidFill>
            <a:srgbClr val="DBE4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958114" y="1345368"/>
            <a:ext cx="2280732" cy="131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Assists with discovery, mapping, quality assessment,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graph queries, lineage &amp; pipeline decisions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4958114" y="1200518"/>
            <a:ext cx="2280732" cy="147483"/>
          </a:xfrm>
          <a:prstGeom prst="roundRect">
            <a:avLst/>
          </a:prstGeom>
          <a:solidFill>
            <a:srgbClr val="3B82F6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2" name="Rounded Rectangle 211"/>
          <p:cNvSpPr/>
          <p:nvPr/>
        </p:nvSpPr>
        <p:spPr>
          <a:xfrm>
            <a:off x="4958114" y="1274260"/>
            <a:ext cx="2280732" cy="73741"/>
          </a:xfrm>
          <a:prstGeom prst="roundRect">
            <a:avLst/>
          </a:prstGeom>
          <a:solidFill>
            <a:srgbClr val="3B82F6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958114" y="1274919"/>
            <a:ext cx="2280732" cy="7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Engineer Chat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7465340" y="1200518"/>
            <a:ext cx="2280732" cy="421382"/>
          </a:xfrm>
          <a:prstGeom prst="roundRect">
            <a:avLst/>
          </a:prstGeom>
          <a:solidFill>
            <a:srgbClr val="DBE4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465340" y="1345368"/>
            <a:ext cx="2280732" cy="131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Business concept queries powered by the Neo4j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domain ontology · Not a full semantic layer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7465340" y="1200518"/>
            <a:ext cx="2280732" cy="147483"/>
          </a:xfrm>
          <a:prstGeom prst="roundRect">
            <a:avLst/>
          </a:prstGeom>
          <a:solidFill>
            <a:srgbClr val="3B82F6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7" name="Rounded Rectangle 216"/>
          <p:cNvSpPr/>
          <p:nvPr/>
        </p:nvSpPr>
        <p:spPr>
          <a:xfrm>
            <a:off x="7465340" y="1274260"/>
            <a:ext cx="2280732" cy="73741"/>
          </a:xfrm>
          <a:prstGeom prst="roundRect">
            <a:avLst/>
          </a:prstGeom>
          <a:solidFill>
            <a:srgbClr val="3B82F6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7465340" y="1274919"/>
            <a:ext cx="2280732" cy="7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Semantic Layer Chat  ⚡ Light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2450889" y="1711444"/>
            <a:ext cx="7289917" cy="805894"/>
          </a:xfrm>
          <a:prstGeom prst="roundRect">
            <a:avLst/>
          </a:prstGeom>
          <a:solidFill>
            <a:srgbClr val="DBE4FF"/>
          </a:solidFill>
          <a:ln w="1524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0" name="Rounded Rectangle 219"/>
          <p:cNvSpPr/>
          <p:nvPr/>
        </p:nvSpPr>
        <p:spPr>
          <a:xfrm>
            <a:off x="2450889" y="1711444"/>
            <a:ext cx="7289917" cy="168552"/>
          </a:xfrm>
          <a:prstGeom prst="roundRect">
            <a:avLst/>
          </a:prstGeom>
          <a:solidFill>
            <a:srgbClr val="4263EB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1" name="Rounded Rectangle 220"/>
          <p:cNvSpPr/>
          <p:nvPr/>
        </p:nvSpPr>
        <p:spPr>
          <a:xfrm>
            <a:off x="2450889" y="1806256"/>
            <a:ext cx="7289917" cy="73741"/>
          </a:xfrm>
          <a:prstGeom prst="roundRect">
            <a:avLst/>
          </a:prstGeom>
          <a:solidFill>
            <a:srgbClr val="4263EB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2450889" y="1800330"/>
            <a:ext cx="7289917" cy="8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Workbench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041607" y="1737781"/>
            <a:ext cx="695281" cy="1000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4041607" y="1754900"/>
            <a:ext cx="695281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Role-Based Access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4789561" y="1737781"/>
            <a:ext cx="621539" cy="1000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4789561" y="1754900"/>
            <a:ext cx="621539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Python + React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5463773" y="1737781"/>
            <a:ext cx="684746" cy="1000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5463773" y="1754900"/>
            <a:ext cx="684746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ODCS Spec Standard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6201193" y="1737781"/>
            <a:ext cx="579400" cy="1000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6201193" y="1754900"/>
            <a:ext cx="579400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Project Scoping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833266" y="1737781"/>
            <a:ext cx="632073" cy="1000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6833266" y="1754900"/>
            <a:ext cx="632073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WebSocket Streaming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2556234" y="1932670"/>
            <a:ext cx="3002350" cy="51092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2556234" y="2007071"/>
            <a:ext cx="3002350" cy="362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Product Owner UI (Product Workbench)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Contract-first 9-step wizard · Marketplace · My Products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Product validation gate · Ingest existing products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Source candidate requests · Chat assistant panel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Source-aligned (dpe-sa) · Consumer-aligned (dpe-cf)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663930" y="1932670"/>
            <a:ext cx="3971529" cy="51092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5663930" y="2151921"/>
            <a:ext cx="3971529" cy="7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Engineer UI (Engineering Workbench)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769276" y="2095956"/>
            <a:ext cx="1790875" cy="305502"/>
          </a:xfrm>
          <a:prstGeom prst="roundRect">
            <a:avLst/>
          </a:prstGeom>
          <a:solidFill>
            <a:srgbClr val="DBE4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769276" y="2149946"/>
            <a:ext cx="1790875" cy="19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Workbench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Pipeline · Reviews · 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Schema · Lineage · Chat panel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7633893" y="2095956"/>
            <a:ext cx="1896221" cy="305502"/>
          </a:xfrm>
          <a:prstGeom prst="roundRect">
            <a:avLst/>
          </a:prstGeom>
          <a:solidFill>
            <a:srgbClr val="DBE4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7633893" y="2149946"/>
            <a:ext cx="1896221" cy="19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CLI Interface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Requires workbench services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+ project context from SQLite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148520" y="2527873"/>
            <a:ext cx="526728" cy="84276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6148520" y="2537091"/>
            <a:ext cx="526728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Delegates tasks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2450889" y="2627951"/>
            <a:ext cx="7289917" cy="642608"/>
          </a:xfrm>
          <a:prstGeom prst="roundRect">
            <a:avLst/>
          </a:prstGeom>
          <a:solidFill>
            <a:srgbClr val="FFF3BF"/>
          </a:solidFill>
          <a:ln w="1524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2450889" y="2627951"/>
            <a:ext cx="7289917" cy="158018"/>
          </a:xfrm>
          <a:prstGeom prst="roundRect">
            <a:avLst/>
          </a:prstGeom>
          <a:solidFill>
            <a:srgbClr val="E6770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5" name="Rounded Rectangle 244"/>
          <p:cNvSpPr/>
          <p:nvPr/>
        </p:nvSpPr>
        <p:spPr>
          <a:xfrm>
            <a:off x="2450889" y="2712228"/>
            <a:ext cx="7289917" cy="73741"/>
          </a:xfrm>
          <a:prstGeom prst="roundRect">
            <a:avLst/>
          </a:prstGeom>
          <a:solidFill>
            <a:srgbClr val="E6770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2450889" y="2716178"/>
            <a:ext cx="72899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Off-the-shelf · No bespoke build required · Skills + concepts portable to any compatible harness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067160" y="2686945"/>
            <a:ext cx="534102" cy="8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>Agent Harness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2556234" y="2828108"/>
            <a:ext cx="1527511" cy="38451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556234" y="2888682"/>
            <a:ext cx="1527511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SDK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Current: Claude Code SDK (interim)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Target: Anthropic Agent SDK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High similarity · Low migration friction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4157488" y="2828108"/>
            <a:ext cx="1501175" cy="38451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4157488" y="2888682"/>
            <a:ext cx="1501175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Execution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Goal definition → Model call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→ Loop until goal achieved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→ Repeat as many iterations as needed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5732405" y="2828108"/>
            <a:ext cx="1158801" cy="38451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5732405" y="2888682"/>
            <a:ext cx="1158801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Anthropic Models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Sonnet · Opus · Haiku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Configurable per harness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Default: Sonnet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6964948" y="2828108"/>
            <a:ext cx="1106129" cy="38451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6964948" y="2888682"/>
            <a:ext cx="1106129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Built-in Core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Read · Write · Edit · Bash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Grep · Glob · WebFetch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Native harness toolset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8144819" y="2828108"/>
            <a:ext cx="1501175" cy="38451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8144819" y="2888682"/>
            <a:ext cx="1501175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Memory (Unstructured)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Agent SDK managed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Conversational + task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Separate from SQLite structured memory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2408750" y="3365371"/>
            <a:ext cx="7374193" cy="1606520"/>
          </a:xfrm>
          <a:prstGeom prst="roundRect">
            <a:avLst/>
          </a:prstGeom>
          <a:solidFill>
            <a:srgbClr val="D3F9D8"/>
          </a:solidFill>
          <a:ln w="22859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9" name="Rounded Rectangle 258"/>
          <p:cNvSpPr/>
          <p:nvPr/>
        </p:nvSpPr>
        <p:spPr>
          <a:xfrm>
            <a:off x="2408750" y="3365371"/>
            <a:ext cx="7374193" cy="200156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0" name="Rounded Rectangle 259"/>
          <p:cNvSpPr/>
          <p:nvPr/>
        </p:nvSpPr>
        <p:spPr>
          <a:xfrm>
            <a:off x="2408750" y="3460182"/>
            <a:ext cx="7374193" cy="105345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2408750" y="3479934"/>
            <a:ext cx="7374193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★  What the Data Workbench uniquely brings — not provided by the agent harness out of the box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146953" y="3447540"/>
            <a:ext cx="973393" cy="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>Agent Skills Ecosystem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8913842" y="3597131"/>
            <a:ext cx="816428" cy="5267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8913842" y="3827575"/>
            <a:ext cx="816428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Every Skill Contains: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982317" y="3739348"/>
            <a:ext cx="979714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66534"/>
                </a:solidFill>
                <a:latin typeface="Calibri"/>
              </a:rPr>
              <a:t>① skill.md — capability spec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66534"/>
                </a:solidFill>
                <a:latin typeface="Calibri"/>
              </a:rPr>
              <a:t>② Scripts — tool executors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66534"/>
                </a:solidFill>
                <a:latin typeface="Calibri"/>
              </a:rPr>
              <a:t>③ Tools — executable actions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66534"/>
                </a:solidFill>
                <a:latin typeface="Calibri"/>
              </a:rPr>
              <a:t>④ Reference Content — knowledge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8966515" y="4029048"/>
            <a:ext cx="695281" cy="73741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8966515" y="4032999"/>
            <a:ext cx="1074525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⊕ Domain Knowledge (select skills)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2482492" y="3607666"/>
            <a:ext cx="1011317" cy="13062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2482492" y="3931603"/>
            <a:ext cx="1011317" cy="65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Table + column metadata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FK + relationship discovery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Schema cataloguing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Multi-dialect SQL support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Reads: Source DB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Writes: :Catalog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:Dataset · :Column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data-discovery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data-discovery-mysql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DCAT-2 Neo4j export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2482492" y="3607666"/>
            <a:ext cx="1011317" cy="126414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1" name="Rounded Rectangle 270"/>
          <p:cNvSpPr/>
          <p:nvPr/>
        </p:nvSpPr>
        <p:spPr>
          <a:xfrm>
            <a:off x="2482492" y="3670873"/>
            <a:ext cx="1011317" cy="63207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2482492" y="3669556"/>
            <a:ext cx="10113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Discovery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2556234" y="4113325"/>
            <a:ext cx="568866" cy="73741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2556234" y="4117275"/>
            <a:ext cx="568866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⊕ Domain Knowledge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3557018" y="3607666"/>
            <a:ext cx="1011317" cy="13062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3557018" y="3964524"/>
            <a:ext cx="1011317" cy="592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Statistical column profiling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Null rates · cardinality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Value distributions + patterns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Row-level DQ signal detection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Reads: :Dataset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Writes: :</a:t>
            </a:r>
            <a:r>
              <a:rPr sz="600" b="0" dirty="0" err="1">
                <a:solidFill>
                  <a:srgbClr val="1E1E1E"/>
                </a:solidFill>
                <a:latin typeface="Calibri"/>
              </a:rPr>
              <a:t>ProfilingRun</a:t>
            </a:r>
            <a:endParaRPr sz="600" b="0" dirty="0">
              <a:solidFill>
                <a:srgbClr val="1E1E1E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:</a:t>
            </a:r>
            <a:r>
              <a:rPr sz="600" b="0" dirty="0" err="1">
                <a:solidFill>
                  <a:srgbClr val="1E1E1E"/>
                </a:solidFill>
                <a:latin typeface="Calibri"/>
              </a:rPr>
              <a:t>ColumnProfile</a:t>
            </a:r>
            <a:endParaRPr sz="600" b="0" dirty="0">
              <a:solidFill>
                <a:srgbClr val="1E1E1E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data-profiling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1E1E1E"/>
                </a:solidFill>
                <a:latin typeface="Calibri"/>
              </a:rPr>
              <a:t>data-profiling-to-dqv-neo4j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3557018" y="3607666"/>
            <a:ext cx="1011317" cy="126414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8" name="Rounded Rectangle 277"/>
          <p:cNvSpPr/>
          <p:nvPr/>
        </p:nvSpPr>
        <p:spPr>
          <a:xfrm>
            <a:off x="3557018" y="3670873"/>
            <a:ext cx="1011317" cy="63207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3557018" y="3669556"/>
            <a:ext cx="10113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Profiling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3630760" y="4113325"/>
            <a:ext cx="568866" cy="73741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3630760" y="4117275"/>
            <a:ext cx="568866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⊕ Domain Knowledge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4631543" y="3607666"/>
            <a:ext cx="1011317" cy="13062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4631543" y="3898683"/>
            <a:ext cx="1042921" cy="724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Rule generation (profiling-based)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GX / Pandera test execution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DQ scoring + OSI readiness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Failure analysis + remediation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Reads: :Column :Profile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Writes: :PropertyShape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:TestRun · :TestResult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data-quality-rule-generation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data-quality-testing-gx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data-scoring · data-remediation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QUALITY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4631543" y="3607666"/>
            <a:ext cx="1011317" cy="126414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5" name="Rounded Rectangle 284"/>
          <p:cNvSpPr/>
          <p:nvPr/>
        </p:nvSpPr>
        <p:spPr>
          <a:xfrm>
            <a:off x="4631543" y="3670873"/>
            <a:ext cx="1011317" cy="63207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4631543" y="3669556"/>
            <a:ext cx="10113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Quality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5706068" y="3607666"/>
            <a:ext cx="1011317" cy="13062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5706068" y="3898683"/>
            <a:ext cx="1042921" cy="724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Column name standardization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LLM-generated descriptions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Table relationship classification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Domain rule enhancement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Reads: :Dataset :Column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Writes: :ColumnDescription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:TableDescription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metadata-enrichment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column-name-standardizer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domain-rule-enhancement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ENRICHMENT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5706068" y="3607666"/>
            <a:ext cx="1011317" cy="126414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0" name="Rounded Rectangle 289"/>
          <p:cNvSpPr/>
          <p:nvPr/>
        </p:nvSpPr>
        <p:spPr>
          <a:xfrm>
            <a:off x="5706068" y="3670873"/>
            <a:ext cx="1011317" cy="63207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5706068" y="3669556"/>
            <a:ext cx="10113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Metadata Enrichment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5779810" y="4113325"/>
            <a:ext cx="568866" cy="73741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5779810" y="4117275"/>
            <a:ext cx="568866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⊕ Domain Knowledge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6780594" y="3607666"/>
            <a:ext cx="1011317" cy="13062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6780594" y="3898683"/>
            <a:ext cx="1011317" cy="724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ODCS spec → dprod 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AI-assisted column mapping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Virtual view DDL generation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FK inference + bridge logic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Reads: :DataContract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Writes: :DProdDataProduct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:ColumnMapping · Views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data-mapping-neo4j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data-serving-virtual-view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odcs-to-graph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MATERIALIZATION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6780594" y="3607666"/>
            <a:ext cx="1011317" cy="126414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7" name="Rounded Rectangle 296"/>
          <p:cNvSpPr/>
          <p:nvPr/>
        </p:nvSpPr>
        <p:spPr>
          <a:xfrm>
            <a:off x="6780594" y="3670873"/>
            <a:ext cx="1011317" cy="63207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6780594" y="3669556"/>
            <a:ext cx="10113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Materialization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7855119" y="3607666"/>
            <a:ext cx="1011317" cy="13062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7855119" y="3898683"/>
            <a:ext cx="1011317" cy="724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Question analysis + QA eval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SQL generation + execution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OSI readiness scoring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Marketplace enrichment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Reads: :DProdColumn views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Writes: :QAEvaluation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:OSIScore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data-product-question-analyzer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data-scoring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marketplace enrichment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ANALYSIS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7855119" y="3607666"/>
            <a:ext cx="1011317" cy="126414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2" name="Rounded Rectangle 301"/>
          <p:cNvSpPr/>
          <p:nvPr/>
        </p:nvSpPr>
        <p:spPr>
          <a:xfrm>
            <a:off x="7855119" y="3670873"/>
            <a:ext cx="1011317" cy="63207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7855119" y="3669556"/>
            <a:ext cx="10113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Analysis</a:t>
            </a:r>
          </a:p>
        </p:txBody>
      </p:sp>
      <p:sp>
        <p:nvSpPr>
          <p:cNvPr id="304" name="Rounded Rectangle 303"/>
          <p:cNvSpPr/>
          <p:nvPr/>
        </p:nvSpPr>
        <p:spPr>
          <a:xfrm>
            <a:off x="2482492" y="4845477"/>
            <a:ext cx="1790875" cy="105345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2482492" y="4865229"/>
            <a:ext cx="2496691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Domain Knowledge Catalog: Customer ontology · Orders ontology · Growing catalog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988151" y="4840209"/>
            <a:ext cx="284433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ED4DA"/>
                </a:solidFill>
                <a:latin typeface="Calibri"/>
              </a:rPr>
              <a:t>DISCOVERY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062677" y="4840209"/>
            <a:ext cx="284433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ED4DA"/>
                </a:solidFill>
                <a:latin typeface="Calibri"/>
              </a:rPr>
              <a:t>PROFILING</a:t>
            </a:r>
          </a:p>
        </p:txBody>
      </p:sp>
      <p:sp>
        <p:nvSpPr>
          <p:cNvPr id="308" name="Rounded Rectangle 307"/>
          <p:cNvSpPr/>
          <p:nvPr/>
        </p:nvSpPr>
        <p:spPr>
          <a:xfrm>
            <a:off x="2450889" y="5071970"/>
            <a:ext cx="7289917" cy="937576"/>
          </a:xfrm>
          <a:prstGeom prst="roundRect">
            <a:avLst/>
          </a:prstGeom>
          <a:solidFill>
            <a:srgbClr val="E5DBFF"/>
          </a:solidFill>
          <a:ln w="1524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2450889" y="5071970"/>
            <a:ext cx="7289917" cy="158018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0" name="Rounded Rectangle 309"/>
          <p:cNvSpPr/>
          <p:nvPr/>
        </p:nvSpPr>
        <p:spPr>
          <a:xfrm>
            <a:off x="2450889" y="5156246"/>
            <a:ext cx="7289917" cy="73741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2450889" y="5160197"/>
            <a:ext cx="72899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is the system of record — captures everything from discovery through to data product publication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3356861" y="5136231"/>
            <a:ext cx="780611" cy="8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>Data &amp; Memory Layer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2556234" y="5272127"/>
            <a:ext cx="3002350" cy="67421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4" name="TextBox 313"/>
          <p:cNvSpPr txBox="1"/>
          <p:nvPr/>
        </p:nvSpPr>
        <p:spPr>
          <a:xfrm>
            <a:off x="2556234" y="5411709"/>
            <a:ext cx="3002350" cy="39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Discovery → Profiling → Enrichment → Products → Concepts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Light Domain Ontology · Explainability · Traceability · PROV-O provenance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Context graph: understands all artifacts + interdependencies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Ontologies: SHACL · PROV-O · DCAT-2 · W3C · Custom product 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Input to Agent Skills (read) · Output from Agent Skills (written)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Brain of the Workbench — all artifacts and their relationships live here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2556234" y="5272127"/>
            <a:ext cx="3002350" cy="115880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6" name="Rounded Rectangle 315"/>
          <p:cNvSpPr/>
          <p:nvPr/>
        </p:nvSpPr>
        <p:spPr>
          <a:xfrm>
            <a:off x="2556234" y="5324799"/>
            <a:ext cx="3002350" cy="63207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2556234" y="5320190"/>
            <a:ext cx="3002350" cy="7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Knowledge Graph  ·  System of Record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5663930" y="5272127"/>
            <a:ext cx="1896221" cy="67421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5663930" y="5411709"/>
            <a:ext cx="1896221" cy="39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Project data + scoping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Guide-me function history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Structured agent context + memory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Workflow + stage run records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Chat sessions + product requests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CLI reads from here to scope all commands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5663930" y="5272127"/>
            <a:ext cx="1896221" cy="115880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1" name="Rounded Rectangle 320"/>
          <p:cNvSpPr/>
          <p:nvPr/>
        </p:nvSpPr>
        <p:spPr>
          <a:xfrm>
            <a:off x="5663930" y="5324799"/>
            <a:ext cx="1896221" cy="63207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2" name="TextBox 321"/>
          <p:cNvSpPr txBox="1"/>
          <p:nvPr/>
        </p:nvSpPr>
        <p:spPr>
          <a:xfrm>
            <a:off x="5663930" y="5320190"/>
            <a:ext cx="1896221" cy="7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SQLite  ·  Structured Memory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7665497" y="5272127"/>
            <a:ext cx="1969963" cy="67421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4" name="TextBox 323"/>
          <p:cNvSpPr txBox="1"/>
          <p:nvPr/>
        </p:nvSpPr>
        <p:spPr>
          <a:xfrm>
            <a:off x="7665497" y="5444630"/>
            <a:ext cx="1969963" cy="329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Agent SDK managed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Conversational + task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Unstructured context per session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Harness-level persistence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Distinct from SQLite project/session memory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7665497" y="5272127"/>
            <a:ext cx="1969963" cy="115880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6" name="Rounded Rectangle 325"/>
          <p:cNvSpPr/>
          <p:nvPr/>
        </p:nvSpPr>
        <p:spPr>
          <a:xfrm>
            <a:off x="7665497" y="5324799"/>
            <a:ext cx="1969963" cy="63207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7665497" y="5320190"/>
            <a:ext cx="1969963" cy="7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Harness Memory  ·  Unstructured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2450889" y="6083288"/>
            <a:ext cx="7289917" cy="500391"/>
          </a:xfrm>
          <a:prstGeom prst="round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2450889" y="6300563"/>
            <a:ext cx="7289917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Cross-Cutting Concerns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2503561" y="6214970"/>
            <a:ext cx="1027119" cy="3160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1" name="TextBox 330"/>
          <p:cNvSpPr txBox="1"/>
          <p:nvPr/>
        </p:nvSpPr>
        <p:spPr>
          <a:xfrm>
            <a:off x="2503561" y="6241306"/>
            <a:ext cx="1074525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ODCS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Open Data Contract Standard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product spec foundation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Extensible to other spec standards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3593889" y="6214970"/>
            <a:ext cx="1185138" cy="3160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3593889" y="6241306"/>
            <a:ext cx="1295751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Portability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No bespoke agent harness required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Skills + ideas portable to any harness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that meets basic tool + loop requirements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4842234" y="6214970"/>
            <a:ext cx="1264147" cy="3160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4842234" y="6241306"/>
            <a:ext cx="1548580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Light Semantic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Powered by Neo4j domain 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Extracts business concepts from all ingested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Light — not a full semantic layer implementation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6169589" y="6214970"/>
            <a:ext cx="1316820" cy="3160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6169589" y="6241306"/>
            <a:ext cx="1316820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Insight Extraction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artifacts → improved playbooks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 self-improvement feedback loop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Reflector → Curator → Updated skills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7549617" y="6214970"/>
            <a:ext cx="1027119" cy="3160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7549617" y="6241306"/>
            <a:ext cx="1106129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W3C PROV-O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Full provenance on all decisions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Who approved what, when + why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Engineer · PO · AI · Steward agents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8639944" y="6214970"/>
            <a:ext cx="1048188" cy="3160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8639944" y="6241306"/>
            <a:ext cx="1106129" cy="263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Role-Based Access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 · Engineer · Steward · DQA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Partial implementation (demo level)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Architectural concept is present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2361345" y="1448080"/>
            <a:ext cx="316036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CED4DA"/>
                </a:solidFill>
                <a:latin typeface="Calibri"/>
              </a:rPr>
              <a:t>INTERFACES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361345" y="2211836"/>
            <a:ext cx="284433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ED4DA"/>
                </a:solidFill>
                <a:latin typeface="Calibri"/>
              </a:rPr>
              <a:t>WORKBENCH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361345" y="3054601"/>
            <a:ext cx="221225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ED4DA"/>
                </a:solidFill>
                <a:latin typeface="Calibri"/>
              </a:rPr>
              <a:t>HARNESS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2361345" y="4239739"/>
            <a:ext cx="189622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ED4DA"/>
                </a:solidFill>
                <a:latin typeface="Calibri"/>
              </a:rPr>
              <a:t>SKILLS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61345" y="5609232"/>
            <a:ext cx="126414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CED4DA"/>
                </a:solidFill>
                <a:latin typeface="Calibri"/>
              </a:rPr>
              <a:t>DATA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6253866" y="5029832"/>
            <a:ext cx="379244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D28D9"/>
                </a:solidFill>
                <a:latin typeface="Calibri"/>
              </a:rPr>
              <a:t>read / write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9877755" y="5003495"/>
            <a:ext cx="1295751" cy="6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5803D"/>
                </a:solidFill>
                <a:latin typeface="Calibri"/>
              </a:rPr>
              <a:t>Insight Extraction Engine — feedback loop</a:t>
            </a:r>
          </a:p>
        </p:txBody>
      </p:sp>
      <p:sp>
        <p:nvSpPr>
          <p:cNvPr id="4" name="Arrow 202"/>
          <p:cNvSpPr/>
          <p:nvPr/>
        </p:nvSpPr>
        <p:spPr>
          <a:xfrm>
            <a:off x="3588621" y="1621901"/>
            <a:ext cx="1" cy="7900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868E96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" name="Arrow 203"/>
          <p:cNvSpPr/>
          <p:nvPr/>
        </p:nvSpPr>
        <p:spPr>
          <a:xfrm>
            <a:off x="6095847" y="1621901"/>
            <a:ext cx="1" cy="7900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868E96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Arrow 204"/>
          <p:cNvSpPr/>
          <p:nvPr/>
        </p:nvSpPr>
        <p:spPr>
          <a:xfrm>
            <a:off x="8603073" y="1621901"/>
            <a:ext cx="1" cy="7900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868E96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 205"/>
          <p:cNvSpPr/>
          <p:nvPr/>
        </p:nvSpPr>
        <p:spPr>
          <a:xfrm>
            <a:off x="6095847" y="2517338"/>
            <a:ext cx="1" cy="10007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E67700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 206"/>
          <p:cNvSpPr/>
          <p:nvPr/>
        </p:nvSpPr>
        <p:spPr>
          <a:xfrm>
            <a:off x="6095847" y="3270560"/>
            <a:ext cx="1" cy="8427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2B8A3E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Arrow 207"/>
          <p:cNvSpPr/>
          <p:nvPr/>
        </p:nvSpPr>
        <p:spPr>
          <a:xfrm>
            <a:off x="2556234" y="4081721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rrow 208"/>
          <p:cNvSpPr/>
          <p:nvPr/>
        </p:nvSpPr>
        <p:spPr>
          <a:xfrm>
            <a:off x="2556234" y="4487302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 209"/>
          <p:cNvSpPr/>
          <p:nvPr/>
        </p:nvSpPr>
        <p:spPr>
          <a:xfrm>
            <a:off x="3630760" y="4081721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 210"/>
          <p:cNvSpPr/>
          <p:nvPr/>
        </p:nvSpPr>
        <p:spPr>
          <a:xfrm>
            <a:off x="3630760" y="4487302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 211"/>
          <p:cNvSpPr/>
          <p:nvPr/>
        </p:nvSpPr>
        <p:spPr>
          <a:xfrm>
            <a:off x="4705285" y="4487302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 212"/>
          <p:cNvSpPr/>
          <p:nvPr/>
        </p:nvSpPr>
        <p:spPr>
          <a:xfrm>
            <a:off x="5779810" y="4081721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 213"/>
          <p:cNvSpPr/>
          <p:nvPr/>
        </p:nvSpPr>
        <p:spPr>
          <a:xfrm>
            <a:off x="5779810" y="4487302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rrow 214"/>
          <p:cNvSpPr/>
          <p:nvPr/>
        </p:nvSpPr>
        <p:spPr>
          <a:xfrm>
            <a:off x="6854336" y="4487302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rrow 215"/>
          <p:cNvSpPr/>
          <p:nvPr/>
        </p:nvSpPr>
        <p:spPr>
          <a:xfrm>
            <a:off x="7928861" y="4487302"/>
            <a:ext cx="863834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rrow 216"/>
          <p:cNvSpPr/>
          <p:nvPr/>
        </p:nvSpPr>
        <p:spPr>
          <a:xfrm>
            <a:off x="6053709" y="4971891"/>
            <a:ext cx="1" cy="895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7048E8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ow 217"/>
          <p:cNvSpPr/>
          <p:nvPr/>
        </p:nvSpPr>
        <p:spPr>
          <a:xfrm>
            <a:off x="6137985" y="4971891"/>
            <a:ext cx="1" cy="895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7048E8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rrow 218"/>
          <p:cNvSpPr/>
          <p:nvPr/>
        </p:nvSpPr>
        <p:spPr>
          <a:xfrm>
            <a:off x="9740806" y="4239739"/>
            <a:ext cx="1" cy="147483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B8A3E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43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Agent Skills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12064"/>
            <a:ext cx="116430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Skill anatomy, catalog depth, and harness orchestration model</a:t>
            </a:r>
          </a:p>
        </p:txBody>
      </p:sp>
      <p:sp>
        <p:nvSpPr>
          <p:cNvPr id="219" name="Arrow 219"/>
          <p:cNvSpPr/>
          <p:nvPr/>
        </p:nvSpPr>
        <p:spPr>
          <a:xfrm>
            <a:off x="274320" y="795528"/>
            <a:ext cx="1164305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" name="Rounded Rectangle 219"/>
          <p:cNvSpPr/>
          <p:nvPr/>
        </p:nvSpPr>
        <p:spPr>
          <a:xfrm>
            <a:off x="2061729" y="868680"/>
            <a:ext cx="8068235" cy="291352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2061729" y="881286"/>
            <a:ext cx="8068235" cy="266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1E1E"/>
                </a:solidFill>
                <a:latin typeface="Calibri"/>
              </a:rPr>
              <a:t>Data Workbench — Agent Skills Ecosystem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1E1E"/>
                </a:solidFill>
                <a:latin typeface="Calibri"/>
              </a:rPr>
              <a:t>v2 of 3 · Skills Anatomy Detail · What the Workbench Uniquely Brings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2218612" y="1216062"/>
            <a:ext cx="3810000" cy="291352"/>
          </a:xfrm>
          <a:prstGeom prst="roundRect">
            <a:avLst/>
          </a:prstGeom>
          <a:solidFill>
            <a:srgbClr val="DBE4FF"/>
          </a:solidFill>
          <a:ln w="1524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2218612" y="1246178"/>
            <a:ext cx="3810000" cy="23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Workbench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 UI (contract wizard · marketplace) + Engineer UI (pipeline · reviews · CLI)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Python + React · ODCS Spec · Project Scoping · Role-Based Access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6151877" y="1216062"/>
            <a:ext cx="3821205" cy="291352"/>
          </a:xfrm>
          <a:prstGeom prst="roundRect">
            <a:avLst/>
          </a:prstGeom>
          <a:solidFill>
            <a:srgbClr val="FFF3BF"/>
          </a:solidFill>
          <a:ln w="1524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6151877" y="1246178"/>
            <a:ext cx="3821205" cy="23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Agent Harness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Claude Code SDK (interim) → Anthropic Agent SDK (target) · Anthropic Models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Goal → Loop until achieved · Built-in Core Tools · Unstructured Memory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2173788" y="1608268"/>
            <a:ext cx="7844117" cy="212911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2173788" y="1665698"/>
            <a:ext cx="7844117" cy="98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Agent Skills Ecosystem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664671" y="1697915"/>
            <a:ext cx="4168588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>★  These skills are what the Data Workbench uniquely contributes — they are not provided by the agent harness out of the box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9093421" y="1866003"/>
            <a:ext cx="980514" cy="829235"/>
          </a:xfrm>
          <a:prstGeom prst="roundRect">
            <a:avLst/>
          </a:prstGeom>
          <a:solidFill>
            <a:srgbClr val="D3F9D8"/>
          </a:solidFill>
          <a:ln w="1524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093421" y="2210584"/>
            <a:ext cx="980514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 Anatomy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Every skill contains: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166259" y="2078915"/>
            <a:ext cx="851647" cy="112058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9166259" y="2099926"/>
            <a:ext cx="941294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① skill.md — capability spec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9166259" y="2218988"/>
            <a:ext cx="851647" cy="112058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9166259" y="2239999"/>
            <a:ext cx="874058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② Scripts — tool executors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9166259" y="2359062"/>
            <a:ext cx="851647" cy="112058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9166259" y="2380073"/>
            <a:ext cx="941294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③ Tools — executable actions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9166259" y="2499135"/>
            <a:ext cx="851647" cy="112058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9166259" y="2520146"/>
            <a:ext cx="1008529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④ Reference — domain knowledge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9093421" y="2745665"/>
            <a:ext cx="980514" cy="403411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9093421" y="2807297"/>
            <a:ext cx="980514" cy="280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Domain Knowledge Catalog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Customer ontology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Orders ontology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Growing catalog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2218612" y="1866003"/>
            <a:ext cx="2286000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2218612" y="2573374"/>
            <a:ext cx="2286000" cy="49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Purpose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Extracts table + column metadata from source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databases. Discovers FK relationships, infers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schema structure, writes to Neo4j catalog.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Anatomy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I/O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data-discovery · data-discovery-mysql · DCAT-2 export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877082" y="3149077"/>
            <a:ext cx="907676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WRITES: :Catalog · :Dataset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:Column · :REFERENCES edges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790112" y="3149077"/>
            <a:ext cx="874058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READS: Source DB (JDBC)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Project config from SQLite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2218612" y="1866003"/>
            <a:ext cx="2286000" cy="179294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6" name="Rounded Rectangle 245"/>
          <p:cNvSpPr/>
          <p:nvPr/>
        </p:nvSpPr>
        <p:spPr>
          <a:xfrm>
            <a:off x="2218612" y="1966856"/>
            <a:ext cx="2286000" cy="78441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2218612" y="1964055"/>
            <a:ext cx="2286000" cy="8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Discovery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3798641" y="1894018"/>
            <a:ext cx="661147" cy="8964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3798641" y="1903823"/>
            <a:ext cx="661147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⊕ Domain Knowledge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2285847" y="2549562"/>
            <a:ext cx="100852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2285847" y="2574775"/>
            <a:ext cx="1176617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① skill.md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Scope, goals, DB dialects supported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3350406" y="2549562"/>
            <a:ext cx="1053352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3350406" y="2574775"/>
            <a:ext cx="1210235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② Scripts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extract_schema.py · write_catalog.py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2285847" y="2773680"/>
            <a:ext cx="100852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2285847" y="2798893"/>
            <a:ext cx="1210235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③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Bash · run_cypher.py · DB connectors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3350406" y="2773680"/>
            <a:ext cx="1053352" cy="190500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3350406" y="2798893"/>
            <a:ext cx="1053352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④ Domain Reference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Column naming conventions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4599862" y="1866003"/>
            <a:ext cx="2286000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4599862" y="2573374"/>
            <a:ext cx="2286000" cy="49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Purpose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Statistical profiling per column: null rates,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cardinality, value distributions, pattern detection.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Feeds downstream DQ rule generation.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Anatomy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I/O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data-profiling · data-profiling-to-dqv-neo4j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6258332" y="3149077"/>
            <a:ext cx="739588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WRITES: :ProfilingRun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:ColumnProfile · stats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171362" y="3149077"/>
            <a:ext cx="840441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READS: :Dataset · :Column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Connection from SQLite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4599862" y="1866003"/>
            <a:ext cx="2286000" cy="179294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3" name="Rounded Rectangle 262"/>
          <p:cNvSpPr/>
          <p:nvPr/>
        </p:nvSpPr>
        <p:spPr>
          <a:xfrm>
            <a:off x="4599862" y="1966856"/>
            <a:ext cx="2286000" cy="78441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4599862" y="1964055"/>
            <a:ext cx="2286000" cy="8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Profiling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6179891" y="1894018"/>
            <a:ext cx="661147" cy="8964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6179891" y="1903823"/>
            <a:ext cx="661147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⊕ Domain Knowledge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4667097" y="2549562"/>
            <a:ext cx="100852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4667097" y="2574775"/>
            <a:ext cx="1344705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① skill.md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Profile scope, sampling strategy, output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5731656" y="2549562"/>
            <a:ext cx="1053352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731656" y="2574775"/>
            <a:ext cx="1277470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② Scripts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profile_columns.py · write_profiles.py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4667097" y="2773680"/>
            <a:ext cx="100852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4667097" y="2798893"/>
            <a:ext cx="1109382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③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Bash · Pandas/SQL · run_cypher.py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5731656" y="2773680"/>
            <a:ext cx="1053352" cy="190500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5731656" y="2798893"/>
            <a:ext cx="1109382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④ Domain Reference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Profiling heuristics + thresholds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6981112" y="1866003"/>
            <a:ext cx="2061882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6981112" y="2573374"/>
            <a:ext cx="3092823" cy="49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Purpose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Rule generation from profiling. GX/Pandera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test execution. Scoring, failure analysis,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remediation + OSI readiness assessment.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Anatomy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I/O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data-quality-rule-generation · testing-gx · testing-python · data-scoring · data-remediation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499509" y="3149077"/>
            <a:ext cx="739588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WRITES: :PropertyShape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:TestRun · :TestResult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7502185" y="3149077"/>
            <a:ext cx="1008529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READS: :Column :Profile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:DataContract (approved rules)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6981112" y="1866003"/>
            <a:ext cx="2061882" cy="179294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0" name="Rounded Rectangle 279"/>
          <p:cNvSpPr/>
          <p:nvPr/>
        </p:nvSpPr>
        <p:spPr>
          <a:xfrm>
            <a:off x="6981112" y="1966856"/>
            <a:ext cx="2061882" cy="78441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6981112" y="1964055"/>
            <a:ext cx="2061882" cy="8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Quality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7048347" y="2549562"/>
            <a:ext cx="91327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7048347" y="2574775"/>
            <a:ext cx="1176617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① skill.md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Rule types, test framework, scoring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8017656" y="2549562"/>
            <a:ext cx="969308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017656" y="2574775"/>
            <a:ext cx="1075764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② Scripts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generate_rules.py · run_tests.py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7048347" y="2773680"/>
            <a:ext cx="91327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7048347" y="2798893"/>
            <a:ext cx="941294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③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GX · Pandera · run_cypher.py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8017656" y="2773680"/>
            <a:ext cx="969308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8017656" y="2798893"/>
            <a:ext cx="974911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④ Reference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Rule templates by column type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2218612" y="3838238"/>
            <a:ext cx="2286000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2218612" y="4545610"/>
            <a:ext cx="2420470" cy="49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Purpose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LLM-generated column + table descriptions.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Column name standardization. Table relationship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classification. Domain rule enhancement.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Anatomy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I/O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metadata-enrichment · column-name-standardizer · domain-rule-enhancement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3877082" y="5121312"/>
            <a:ext cx="874058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WRITES: :ColumnDescription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:TableDescription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2790112" y="5121312"/>
            <a:ext cx="840441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READS: :Dataset · :Column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:ProfilingRun (context)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2218612" y="3838238"/>
            <a:ext cx="2286000" cy="179294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2218612" y="3939091"/>
            <a:ext cx="2286000" cy="78441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2218612" y="3936290"/>
            <a:ext cx="2286000" cy="8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Metadata Enrichment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3686582" y="3866253"/>
            <a:ext cx="661147" cy="8964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3686582" y="3876058"/>
            <a:ext cx="661147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⊕ Domain Knowledge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2285847" y="4521797"/>
            <a:ext cx="100852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2285847" y="4547010"/>
            <a:ext cx="1008529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① skill.md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Enrichment scope, naming rules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3350406" y="4521797"/>
            <a:ext cx="1053352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2" name="TextBox 301"/>
          <p:cNvSpPr txBox="1"/>
          <p:nvPr/>
        </p:nvSpPr>
        <p:spPr>
          <a:xfrm>
            <a:off x="3350406" y="4547010"/>
            <a:ext cx="1176617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② Scripts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write_descriptions.py · name_std.py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2285847" y="4745915"/>
            <a:ext cx="100852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4" name="TextBox 303"/>
          <p:cNvSpPr txBox="1"/>
          <p:nvPr/>
        </p:nvSpPr>
        <p:spPr>
          <a:xfrm>
            <a:off x="2285847" y="4771128"/>
            <a:ext cx="1075764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③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Bash · run_cypher.py · LLM calls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3350406" y="4745915"/>
            <a:ext cx="1053352" cy="190500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6" name="TextBox 305"/>
          <p:cNvSpPr txBox="1"/>
          <p:nvPr/>
        </p:nvSpPr>
        <p:spPr>
          <a:xfrm>
            <a:off x="3350406" y="4771128"/>
            <a:ext cx="1143000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④ Domain Reference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Business glossary + naming catalog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4599862" y="3838238"/>
            <a:ext cx="2286000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8" name="TextBox 307"/>
          <p:cNvSpPr txBox="1"/>
          <p:nvPr/>
        </p:nvSpPr>
        <p:spPr>
          <a:xfrm>
            <a:off x="4599862" y="4545610"/>
            <a:ext cx="3260911" cy="49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Purpose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Translates approved ODCS specs into the dprod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graph. AI-assisted column mapping (source → target).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Generates virtual SQL views with FK inference.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Anatomy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I/O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data-mapping-neo4j · data-serving-virtual-view · odcs-to-graph · data-product-spec-to-dprod-neo4j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258332" y="5121312"/>
            <a:ext cx="874058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WRITES: :DProdDataProduct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:ColumnMapping · Views DDL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171362" y="5121312"/>
            <a:ext cx="739588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READS: :DataContract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:Column · :DProdColumn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4599862" y="3838238"/>
            <a:ext cx="2286000" cy="179294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4599862" y="3939091"/>
            <a:ext cx="2286000" cy="78441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4599862" y="3936290"/>
            <a:ext cx="2286000" cy="8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Materialization of Views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4667097" y="4521797"/>
            <a:ext cx="100852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4667097" y="4547010"/>
            <a:ext cx="1311088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① skill.md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Mapping strategy, DDL logic, transforms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5731656" y="4521797"/>
            <a:ext cx="1053352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5731656" y="4547010"/>
            <a:ext cx="1344705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② Scripts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write_mappings.py · generate_view_ddl.py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4667097" y="4745915"/>
            <a:ext cx="100852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4667097" y="4771128"/>
            <a:ext cx="1042147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③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Bash · run_cypher.py · Postgres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5731656" y="4745915"/>
            <a:ext cx="1053352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5731656" y="4771128"/>
            <a:ext cx="1053352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④ Reference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Transform DSL · FK bridge rules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6981112" y="3838238"/>
            <a:ext cx="2061882" cy="190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6981112" y="4545610"/>
            <a:ext cx="2622176" cy="49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Purpose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Generates and executes questions against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product views. OSI readiness scoring.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Playbook-driven self-improvement loop.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Anatomy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I/O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data-product-question-analyzer · data-product-question-executor · data-scoring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8499509" y="5121312"/>
            <a:ext cx="1008529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WRITES: :QAEvaluation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7048E8"/>
                </a:solidFill>
                <a:latin typeface="Calibri"/>
              </a:rPr>
              <a:t>:OSIScore · :ServingDefinition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7502185" y="5121312"/>
            <a:ext cx="840441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READS: :DProdColumn views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:DataContract metadata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6981112" y="3838238"/>
            <a:ext cx="2061882" cy="179294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7" name="Rounded Rectangle 326"/>
          <p:cNvSpPr/>
          <p:nvPr/>
        </p:nvSpPr>
        <p:spPr>
          <a:xfrm>
            <a:off x="6981112" y="3939091"/>
            <a:ext cx="2061882" cy="78441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8" name="TextBox 327"/>
          <p:cNvSpPr txBox="1"/>
          <p:nvPr/>
        </p:nvSpPr>
        <p:spPr>
          <a:xfrm>
            <a:off x="6981112" y="3936290"/>
            <a:ext cx="2061882" cy="8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Analysis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7048347" y="4521797"/>
            <a:ext cx="91327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0" name="TextBox 329"/>
          <p:cNvSpPr txBox="1"/>
          <p:nvPr/>
        </p:nvSpPr>
        <p:spPr>
          <a:xfrm>
            <a:off x="7048347" y="4547010"/>
            <a:ext cx="1075764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① skill.md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QA eval framework, scoring model</a:t>
            </a:r>
          </a:p>
        </p:txBody>
      </p:sp>
      <p:sp>
        <p:nvSpPr>
          <p:cNvPr id="331" name="Rounded Rectangle 330"/>
          <p:cNvSpPr/>
          <p:nvPr/>
        </p:nvSpPr>
        <p:spPr>
          <a:xfrm>
            <a:off x="8017656" y="4521797"/>
            <a:ext cx="969308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8017656" y="4547010"/>
            <a:ext cx="1075764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② Scripts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generate_questions.py · score.py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7048347" y="4745915"/>
            <a:ext cx="913279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7048347" y="4771128"/>
            <a:ext cx="1075764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③ Tools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Bash · SQL executor · run_cypher</a:t>
            </a:r>
          </a:p>
        </p:txBody>
      </p:sp>
      <p:sp>
        <p:nvSpPr>
          <p:cNvPr id="335" name="Rounded Rectangle 334"/>
          <p:cNvSpPr/>
          <p:nvPr/>
        </p:nvSpPr>
        <p:spPr>
          <a:xfrm>
            <a:off x="8017656" y="4745915"/>
            <a:ext cx="969308" cy="190500"/>
          </a:xfrm>
          <a:prstGeom prst="roundRect">
            <a:avLst/>
          </a:prstGeom>
          <a:solidFill>
            <a:srgbClr val="D3F9D8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8017656" y="4771128"/>
            <a:ext cx="1042147" cy="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④ Reference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OSI dimensions · scoring rubric</a:t>
            </a:r>
          </a:p>
        </p:txBody>
      </p:sp>
      <p:sp>
        <p:nvSpPr>
          <p:cNvPr id="337" name="Rounded Rectangle 336"/>
          <p:cNvSpPr/>
          <p:nvPr/>
        </p:nvSpPr>
        <p:spPr>
          <a:xfrm>
            <a:off x="2218612" y="5855297"/>
            <a:ext cx="7754470" cy="728382"/>
          </a:xfrm>
          <a:prstGeom prst="roundRect">
            <a:avLst/>
          </a:prstGeom>
          <a:solidFill>
            <a:srgbClr val="E5DBFF"/>
          </a:solidFill>
          <a:ln w="1524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8" name="Rounded Rectangle 337"/>
          <p:cNvSpPr/>
          <p:nvPr/>
        </p:nvSpPr>
        <p:spPr>
          <a:xfrm>
            <a:off x="2218612" y="5855297"/>
            <a:ext cx="7754470" cy="145676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9" name="Rounded Rectangle 338"/>
          <p:cNvSpPr/>
          <p:nvPr/>
        </p:nvSpPr>
        <p:spPr>
          <a:xfrm>
            <a:off x="2218612" y="5933738"/>
            <a:ext cx="7754470" cy="67235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2218612" y="5925334"/>
            <a:ext cx="7754470" cy="8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&amp; Memory Layer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2313862" y="6045797"/>
            <a:ext cx="3137647" cy="4818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2" name="TextBox 341"/>
          <p:cNvSpPr txBox="1"/>
          <p:nvPr/>
        </p:nvSpPr>
        <p:spPr>
          <a:xfrm>
            <a:off x="2313862" y="6094123"/>
            <a:ext cx="3137647" cy="385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Knowledge Graph  ·  System of Record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Discovery → Profiling → Enrichment → Products → Concepts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Light Domain Ontology · PROV-O provenance · Explainability &amp; traceability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SHACL · PROV-O · DCAT-2 · W3C · Custom product graph ontologies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Context graph — understands all artifacts and their interdependencies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5563568" y="6045797"/>
            <a:ext cx="2129117" cy="4818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4" name="TextBox 343"/>
          <p:cNvSpPr txBox="1"/>
          <p:nvPr/>
        </p:nvSpPr>
        <p:spPr>
          <a:xfrm>
            <a:off x="5563568" y="6094123"/>
            <a:ext cx="2129117" cy="385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SQLite  ·  Structured Memory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Project data + scoping · Workflow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Chat sessions · Stage run records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Guide-me history · Product requests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CLI reads from here to scope all commands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7804744" y="6045797"/>
            <a:ext cx="2056279" cy="4818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6" name="TextBox 345"/>
          <p:cNvSpPr txBox="1"/>
          <p:nvPr/>
        </p:nvSpPr>
        <p:spPr>
          <a:xfrm>
            <a:off x="7804744" y="6094123"/>
            <a:ext cx="2056279" cy="385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Harness Memory  ·  Unstructured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Agent SDK managed conversational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Per-session context + task memory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Distinct from SQLite structured memory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Managed transparently by the harness SDK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6263935" y="5816077"/>
            <a:ext cx="403411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D28D9"/>
                </a:solidFill>
                <a:latin typeface="Calibri"/>
              </a:rPr>
              <a:t>read / write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0129965" y="5351032"/>
            <a:ext cx="1277470" cy="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5803D"/>
                </a:solidFill>
                <a:latin typeface="Calibri"/>
              </a:rPr>
              <a:t>Insight Extraction → Skill Improvement</a:t>
            </a:r>
          </a:p>
        </p:txBody>
      </p:sp>
      <p:sp>
        <p:nvSpPr>
          <p:cNvPr id="4" name="Arrow 220"/>
          <p:cNvSpPr/>
          <p:nvPr/>
        </p:nvSpPr>
        <p:spPr>
          <a:xfrm>
            <a:off x="6095847" y="1507415"/>
            <a:ext cx="1" cy="8964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2B8A3E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" name="Arrow 221"/>
          <p:cNvSpPr/>
          <p:nvPr/>
        </p:nvSpPr>
        <p:spPr>
          <a:xfrm>
            <a:off x="2313862" y="2426297"/>
            <a:ext cx="208989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rrow 222"/>
          <p:cNvSpPr/>
          <p:nvPr/>
        </p:nvSpPr>
        <p:spPr>
          <a:xfrm>
            <a:off x="2313862" y="3003400"/>
            <a:ext cx="208989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 223"/>
          <p:cNvSpPr/>
          <p:nvPr/>
        </p:nvSpPr>
        <p:spPr>
          <a:xfrm>
            <a:off x="4695112" y="2426297"/>
            <a:ext cx="208989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 224"/>
          <p:cNvSpPr/>
          <p:nvPr/>
        </p:nvSpPr>
        <p:spPr>
          <a:xfrm>
            <a:off x="4695112" y="3003400"/>
            <a:ext cx="208989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rrow 225"/>
          <p:cNvSpPr/>
          <p:nvPr/>
        </p:nvSpPr>
        <p:spPr>
          <a:xfrm>
            <a:off x="7076362" y="2426297"/>
            <a:ext cx="1865779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rrow 226"/>
          <p:cNvSpPr/>
          <p:nvPr/>
        </p:nvSpPr>
        <p:spPr>
          <a:xfrm>
            <a:off x="7076362" y="3003400"/>
            <a:ext cx="1865779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 227"/>
          <p:cNvSpPr/>
          <p:nvPr/>
        </p:nvSpPr>
        <p:spPr>
          <a:xfrm>
            <a:off x="2313862" y="4398532"/>
            <a:ext cx="208989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 228"/>
          <p:cNvSpPr/>
          <p:nvPr/>
        </p:nvSpPr>
        <p:spPr>
          <a:xfrm>
            <a:off x="2313862" y="4975635"/>
            <a:ext cx="208989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 229"/>
          <p:cNvSpPr/>
          <p:nvPr/>
        </p:nvSpPr>
        <p:spPr>
          <a:xfrm>
            <a:off x="4695112" y="4398532"/>
            <a:ext cx="208989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 230"/>
          <p:cNvSpPr/>
          <p:nvPr/>
        </p:nvSpPr>
        <p:spPr>
          <a:xfrm>
            <a:off x="4695112" y="4975635"/>
            <a:ext cx="208989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 231"/>
          <p:cNvSpPr/>
          <p:nvPr/>
        </p:nvSpPr>
        <p:spPr>
          <a:xfrm>
            <a:off x="7076362" y="4398532"/>
            <a:ext cx="1865779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rrow 232"/>
          <p:cNvSpPr/>
          <p:nvPr/>
        </p:nvSpPr>
        <p:spPr>
          <a:xfrm>
            <a:off x="7076362" y="4975635"/>
            <a:ext cx="1865779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rrow 233"/>
          <p:cNvSpPr/>
          <p:nvPr/>
        </p:nvSpPr>
        <p:spPr>
          <a:xfrm>
            <a:off x="6051024" y="5754444"/>
            <a:ext cx="1" cy="8964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7048E8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rrow 234"/>
          <p:cNvSpPr/>
          <p:nvPr/>
        </p:nvSpPr>
        <p:spPr>
          <a:xfrm>
            <a:off x="6140671" y="5754444"/>
            <a:ext cx="1" cy="8964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7048E8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ow 235"/>
          <p:cNvSpPr/>
          <p:nvPr/>
        </p:nvSpPr>
        <p:spPr>
          <a:xfrm>
            <a:off x="10017906" y="4454562"/>
            <a:ext cx="1" cy="179294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B8A3E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43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Data Product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12064"/>
            <a:ext cx="116430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</a:rPr>
              <a:t>Six-phase lifecycle · PO ideation → Engineering → Marketplace deployment</a:t>
            </a:r>
          </a:p>
        </p:txBody>
      </p:sp>
      <p:sp>
        <p:nvSpPr>
          <p:cNvPr id="236" name="Arrow 236"/>
          <p:cNvSpPr/>
          <p:nvPr/>
        </p:nvSpPr>
        <p:spPr>
          <a:xfrm>
            <a:off x="274320" y="795528"/>
            <a:ext cx="1164305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7" name="Rounded Rectangle 236"/>
          <p:cNvSpPr/>
          <p:nvPr/>
        </p:nvSpPr>
        <p:spPr>
          <a:xfrm>
            <a:off x="437431" y="868680"/>
            <a:ext cx="11316831" cy="367797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437431" y="884594"/>
            <a:ext cx="11316831" cy="33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Calibri"/>
              </a:rPr>
              <a:t>Data Workbench — Data Product Journey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Calibri"/>
              </a:rPr>
              <a:t>v3 of 3 · End-to-End Flow · How a Data Product Goes from Idea to Marketplace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08161" y="1307207"/>
            <a:ext cx="792178" cy="155606"/>
          </a:xfrm>
          <a:prstGeom prst="roundRect">
            <a:avLst/>
          </a:prstGeom>
          <a:solidFill>
            <a:srgbClr val="DBEAFE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508161" y="1340804"/>
            <a:ext cx="792178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Product Owner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08161" y="1505251"/>
            <a:ext cx="792178" cy="155606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508161" y="1538848"/>
            <a:ext cx="792178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 Engineer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1356924" y="1293061"/>
            <a:ext cx="1612648" cy="933638"/>
          </a:xfrm>
          <a:prstGeom prst="roundRect">
            <a:avLst/>
          </a:prstGeom>
          <a:solidFill>
            <a:srgbClr val="DBE4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1356924" y="1370864"/>
            <a:ext cx="1612648" cy="77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① Ideate &amp; Define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 has a data product idea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Chat assistant guides naming,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schema, domain, quality rules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→ Contract-first ODCS spec drafted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9-step wizard · Chat panel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PO-driven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product-authoring-assistant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1356924" y="1293061"/>
            <a:ext cx="1612648" cy="56584"/>
          </a:xfrm>
          <a:prstGeom prst="roundRect">
            <a:avLst/>
          </a:prstGeom>
          <a:solidFill>
            <a:srgbClr val="3B82F6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6" name="Rounded Rectangle 245"/>
          <p:cNvSpPr/>
          <p:nvPr/>
        </p:nvSpPr>
        <p:spPr>
          <a:xfrm>
            <a:off x="3089814" y="1293061"/>
            <a:ext cx="1612648" cy="933638"/>
          </a:xfrm>
          <a:prstGeom prst="roundRect">
            <a:avLst/>
          </a:prstGeom>
          <a:solidFill>
            <a:srgbClr val="FFF3BF"/>
          </a:solidFill>
          <a:ln w="1524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3089814" y="1370864"/>
            <a:ext cx="1680549" cy="77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② Source Discovery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Engineer runs discovery on source DB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Tables, columns, FKs catalogued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Statistical profiling executed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→ Full catalog written to Neo4j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Pipeline · Workbench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Engineer-driven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data-discovery · data-profiling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3089814" y="1293061"/>
            <a:ext cx="1612648" cy="56584"/>
          </a:xfrm>
          <a:prstGeom prst="roundRect">
            <a:avLst/>
          </a:prstGeom>
          <a:solidFill>
            <a:srgbClr val="E6770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9" name="Rounded Rectangle 248"/>
          <p:cNvSpPr/>
          <p:nvPr/>
        </p:nvSpPr>
        <p:spPr>
          <a:xfrm>
            <a:off x="4822704" y="1293061"/>
            <a:ext cx="1612648" cy="933638"/>
          </a:xfrm>
          <a:prstGeom prst="roundRect">
            <a:avLst/>
          </a:prstGeom>
          <a:solidFill>
            <a:srgbClr val="FFF3BF"/>
          </a:solidFill>
          <a:ln w="1524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4822704" y="1370864"/>
            <a:ext cx="1773913" cy="77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③ Assess &amp; Enrich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DQ rules generated from profiling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Column descriptions + names enriched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Table relationship types classified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→ Enriched catalog ready for PO 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Pipeline · Reviews tab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Engineer-driven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metadata-enrichment · data-quality-*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4822704" y="1293061"/>
            <a:ext cx="1612648" cy="56584"/>
          </a:xfrm>
          <a:prstGeom prst="roundRect">
            <a:avLst/>
          </a:prstGeom>
          <a:solidFill>
            <a:srgbClr val="E6770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2" name="Rounded Rectangle 251"/>
          <p:cNvSpPr/>
          <p:nvPr/>
        </p:nvSpPr>
        <p:spPr>
          <a:xfrm>
            <a:off x="6555593" y="1293061"/>
            <a:ext cx="1612648" cy="933638"/>
          </a:xfrm>
          <a:prstGeom prst="roundRect">
            <a:avLst/>
          </a:prstGeom>
          <a:solidFill>
            <a:srgbClr val="F5F0FF"/>
          </a:solidFill>
          <a:ln w="1524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6555593" y="1419491"/>
            <a:ext cx="1867277" cy="68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④ Shape &amp; 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 reviews: names + descriptions + rules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 binds source products (consumer)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Gap analysis: can spec be satisfied?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→ Approved ODCS spec committed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Validation gate · Wizard step 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gap-analyzer · archetype-classifier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6555593" y="1293061"/>
            <a:ext cx="1612648" cy="56584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5" name="Rounded Rectangle 254"/>
          <p:cNvSpPr/>
          <p:nvPr/>
        </p:nvSpPr>
        <p:spPr>
          <a:xfrm>
            <a:off x="6626324" y="2007436"/>
            <a:ext cx="636571" cy="9902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626324" y="2012740"/>
            <a:ext cx="636571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PO-driven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7333626" y="2007436"/>
            <a:ext cx="763886" cy="9902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333626" y="2012740"/>
            <a:ext cx="763886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Engineer reviews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8288483" y="1293061"/>
            <a:ext cx="1612648" cy="933638"/>
          </a:xfrm>
          <a:prstGeom prst="roundRect">
            <a:avLst/>
          </a:prstGeom>
          <a:solidFill>
            <a:srgbClr val="FFF3BF"/>
          </a:solidFill>
          <a:ln w="1524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288483" y="1370864"/>
            <a:ext cx="2147368" cy="77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⑤ Map &amp; Serve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AI maps source → target columns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Engineer reviews + approves/replaces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Virtual SQL views generated + deployed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→ Deployable data product ready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MappingReviewPanel · Pipeline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Engineer-driven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data-mapping-neo4j · data-serving-virtual-view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8288483" y="1293061"/>
            <a:ext cx="1612648" cy="56584"/>
          </a:xfrm>
          <a:prstGeom prst="roundRect">
            <a:avLst/>
          </a:prstGeom>
          <a:solidFill>
            <a:srgbClr val="E6770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2" name="Rounded Rectangle 261"/>
          <p:cNvSpPr/>
          <p:nvPr/>
        </p:nvSpPr>
        <p:spPr>
          <a:xfrm>
            <a:off x="10021373" y="1293061"/>
            <a:ext cx="1485334" cy="933638"/>
          </a:xfrm>
          <a:prstGeom prst="roundRect">
            <a:avLst/>
          </a:prstGeom>
          <a:solidFill>
            <a:srgbClr val="DBE4FF"/>
          </a:solidFill>
          <a:ln w="15240">
            <a:solidFill>
              <a:srgbClr val="4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10021373" y="1370864"/>
            <a:ext cx="1493821" cy="77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⑥ Publish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 deploys + publishes product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OSI readiness scored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Product visible in Marketplace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Consumers can discover + consume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Marketplace · Score OSI now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PO-driven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data-product-question-analyzer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10021373" y="1293061"/>
            <a:ext cx="1485334" cy="56584"/>
          </a:xfrm>
          <a:prstGeom prst="roundRect">
            <a:avLst/>
          </a:prstGeom>
          <a:solidFill>
            <a:srgbClr val="4263EB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5" name="Rounded Rectangle 264"/>
          <p:cNvSpPr/>
          <p:nvPr/>
        </p:nvSpPr>
        <p:spPr>
          <a:xfrm>
            <a:off x="508161" y="2438890"/>
            <a:ext cx="11175371" cy="1994591"/>
          </a:xfrm>
          <a:prstGeom prst="roundRect">
            <a:avLst/>
          </a:prstGeom>
          <a:solidFill>
            <a:srgbClr val="D3F9D8"/>
          </a:solidFill>
          <a:ln w="22859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6" name="Rounded Rectangle 265"/>
          <p:cNvSpPr/>
          <p:nvPr/>
        </p:nvSpPr>
        <p:spPr>
          <a:xfrm>
            <a:off x="508161" y="2438890"/>
            <a:ext cx="11175371" cy="240482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7" name="Rounded Rectangle 266"/>
          <p:cNvSpPr/>
          <p:nvPr/>
        </p:nvSpPr>
        <p:spPr>
          <a:xfrm>
            <a:off x="508161" y="2580350"/>
            <a:ext cx="11175371" cy="99022"/>
          </a:xfrm>
          <a:prstGeom prst="roundRect">
            <a:avLst/>
          </a:prstGeom>
          <a:solidFill>
            <a:srgbClr val="2B8A3E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508161" y="2585655"/>
            <a:ext cx="11175371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Goal → Model call → Loop until achieved · SDK: Claude Code (now) → Anthropic Agent SDK (target) · Anthropic Models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3408100" y="2546400"/>
            <a:ext cx="2206782" cy="11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Calibri"/>
              </a:rPr>
              <a:t>Agent Skills Ecosystem  +  Agent Harness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607184" y="2735957"/>
            <a:ext cx="1718743" cy="16267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607184" y="3018878"/>
            <a:ext cx="1718743" cy="106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product-authoring-assistant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data-product-name-advisor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data-product-schema-advisor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data-product-spec-writer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What they do: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Guide PO through ODCS spec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authoring. Suggest names, schema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columns, quality rules. Preview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gap check vs available sources.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Neo4j: writes :DataContract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:DataContractSchema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:PropertyShape (rules)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607184" y="2735957"/>
            <a:ext cx="1718743" cy="14146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3" name="Rounded Rectangle 272"/>
          <p:cNvSpPr/>
          <p:nvPr/>
        </p:nvSpPr>
        <p:spPr>
          <a:xfrm>
            <a:off x="607184" y="2806687"/>
            <a:ext cx="1718743" cy="7073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607184" y="2797846"/>
            <a:ext cx="1718743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Skills: Product Authoring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677914" y="4214218"/>
            <a:ext cx="1570210" cy="99022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677914" y="4219523"/>
            <a:ext cx="1570210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Powered by Phase ① (Ideate &amp; Define)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2424950" y="2735957"/>
            <a:ext cx="1718743" cy="16267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2424950" y="3018878"/>
            <a:ext cx="1718743" cy="106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data-discovery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data-discovery-mysql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data-profiling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data-profiling-to-dqv-neo4j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What they do: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Extract schema from source DB.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Statistical column profiling. FK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relationship discovery. Write full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catalog to Neo4j.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Neo4j: writes :Catalog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:Dataset · :Column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:ProfilingRun · :ColumnProfile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2424950" y="2735957"/>
            <a:ext cx="1718743" cy="14146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0" name="Rounded Rectangle 279"/>
          <p:cNvSpPr/>
          <p:nvPr/>
        </p:nvSpPr>
        <p:spPr>
          <a:xfrm>
            <a:off x="2424950" y="2806687"/>
            <a:ext cx="1718743" cy="7073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2424950" y="2797846"/>
            <a:ext cx="1718743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Skills: Discovery + Profiling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2495680" y="4214218"/>
            <a:ext cx="1570210" cy="99022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2495680" y="4219523"/>
            <a:ext cx="1570210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Powered by Phase ② (Source Discovery)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4242716" y="2735957"/>
            <a:ext cx="1718743" cy="16267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4242716" y="3018878"/>
            <a:ext cx="1718743" cy="106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metadata-enrichment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column-name-standardizer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data-quality-rule-generation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domain-rule-enhancement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What they do: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LLM descriptions for columns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tables. Standardize names. Generate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DQ rules from profiling + domain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catalog. Table classification.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Neo4j: writes :ColumnDescription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:TableDescription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:PropertyShape (DQ rules)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4242716" y="2735957"/>
            <a:ext cx="1718743" cy="14146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7" name="Rounded Rectangle 286"/>
          <p:cNvSpPr/>
          <p:nvPr/>
        </p:nvSpPr>
        <p:spPr>
          <a:xfrm>
            <a:off x="4242716" y="2806687"/>
            <a:ext cx="1718743" cy="7073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4242716" y="2797846"/>
            <a:ext cx="1718743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Skills: Enrichment + Quality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4313446" y="4214218"/>
            <a:ext cx="1570210" cy="99022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4313446" y="4219523"/>
            <a:ext cx="1570210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Powered by Phase ③ (Assess &amp; Enrich)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6060482" y="2735957"/>
            <a:ext cx="1718743" cy="16267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2" name="TextBox 291"/>
          <p:cNvSpPr txBox="1"/>
          <p:nvPr/>
        </p:nvSpPr>
        <p:spPr>
          <a:xfrm>
            <a:off x="6060482" y="3018878"/>
            <a:ext cx="1718743" cy="106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data-product-gap-analyzer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data-product-archetype-classifier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data-product-discovery-advisor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odcs-to-graph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What they do: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Gap analysis: can spec columns be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sourced? Classify product archetype.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Suggest source candidates. Persist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ODCS spec to Neo4j graph.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Neo4j: writes :DataContract v2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:CONSUMES edges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:DataContractSchema confirmed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6060482" y="2735957"/>
            <a:ext cx="1718743" cy="14146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4" name="Rounded Rectangle 293"/>
          <p:cNvSpPr/>
          <p:nvPr/>
        </p:nvSpPr>
        <p:spPr>
          <a:xfrm>
            <a:off x="6060482" y="2806687"/>
            <a:ext cx="1718743" cy="7073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6060482" y="2797846"/>
            <a:ext cx="1718743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Skills: Validation + Ingest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6131212" y="4214218"/>
            <a:ext cx="1570210" cy="99022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6131212" y="4219523"/>
            <a:ext cx="1570210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Powered by Phase ④ (Shape &amp; Validate)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7878248" y="2735957"/>
            <a:ext cx="1718743" cy="16267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7878248" y="3018878"/>
            <a:ext cx="1718743" cy="106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data-mapping-neo4j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data-serving-virtual-view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data-product-spec-to-dprod-neo4j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data-mapping-rationale-summarizer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What they do: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AI maps source → target columns.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FK inference for join construction.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DDL view generation + deployment.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Mapping rationale report.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Neo4j: writes :ColumnMapping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:DProdDataProduct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:ServingDefinition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7878248" y="2735957"/>
            <a:ext cx="1718743" cy="14146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1" name="Rounded Rectangle 300"/>
          <p:cNvSpPr/>
          <p:nvPr/>
        </p:nvSpPr>
        <p:spPr>
          <a:xfrm>
            <a:off x="7878248" y="2806687"/>
            <a:ext cx="1718743" cy="7073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2" name="TextBox 301"/>
          <p:cNvSpPr txBox="1"/>
          <p:nvPr/>
        </p:nvSpPr>
        <p:spPr>
          <a:xfrm>
            <a:off x="7878248" y="2797846"/>
            <a:ext cx="1718743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Skills: Mapping + Serving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7948978" y="4214218"/>
            <a:ext cx="1570210" cy="99022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4" name="TextBox 303"/>
          <p:cNvSpPr txBox="1"/>
          <p:nvPr/>
        </p:nvSpPr>
        <p:spPr>
          <a:xfrm>
            <a:off x="7948978" y="4219523"/>
            <a:ext cx="1570210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Powered by Phase ⑤ (Map &amp; Serve)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9696014" y="2735957"/>
            <a:ext cx="1916788" cy="16267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6" name="TextBox 305"/>
          <p:cNvSpPr txBox="1"/>
          <p:nvPr/>
        </p:nvSpPr>
        <p:spPr>
          <a:xfrm>
            <a:off x="9696014" y="3018878"/>
            <a:ext cx="1916788" cy="1060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data-product-question-analyzer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data-product-question-executor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data-scoring (OSI readiness)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data-product-osi-advisor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What they do: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Generate + execute QA questions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against deployed views. OSI score.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Readiness assessment before publish.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Marketplace enrichment.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Neo4j: writes :QAEvaluation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:OSIScore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:DataContract {lifecycle: published}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9696014" y="2735957"/>
            <a:ext cx="1916788" cy="14146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8" name="Rounded Rectangle 307"/>
          <p:cNvSpPr/>
          <p:nvPr/>
        </p:nvSpPr>
        <p:spPr>
          <a:xfrm>
            <a:off x="9696014" y="2806687"/>
            <a:ext cx="1916788" cy="70730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9696014" y="2797846"/>
            <a:ext cx="1916788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Skills: Analysis + Scoring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9766744" y="4214218"/>
            <a:ext cx="1775327" cy="99022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9766744" y="4219523"/>
            <a:ext cx="1775327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Powered by Phase ⑥ (Publish)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508161" y="4560796"/>
            <a:ext cx="11175371" cy="1244851"/>
          </a:xfrm>
          <a:prstGeom prst="roundRect">
            <a:avLst/>
          </a:prstGeom>
          <a:solidFill>
            <a:srgbClr val="E5DBFF"/>
          </a:solidFill>
          <a:ln w="1524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3" name="Rounded Rectangle 312"/>
          <p:cNvSpPr/>
          <p:nvPr/>
        </p:nvSpPr>
        <p:spPr>
          <a:xfrm>
            <a:off x="508161" y="4560796"/>
            <a:ext cx="11175371" cy="198044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4" name="TextBox 313"/>
          <p:cNvSpPr txBox="1"/>
          <p:nvPr/>
        </p:nvSpPr>
        <p:spPr>
          <a:xfrm>
            <a:off x="508161" y="4615612"/>
            <a:ext cx="11175371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Insight Loop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508161" y="4673964"/>
            <a:ext cx="11175371" cy="84876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6" name="TextBox 315"/>
          <p:cNvSpPr txBox="1"/>
          <p:nvPr/>
        </p:nvSpPr>
        <p:spPr>
          <a:xfrm>
            <a:off x="508161" y="4672196"/>
            <a:ext cx="11175371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All journey artifacts are persisted here — enabling explainability, traceability, and continuous improvement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417877" y="4637184"/>
            <a:ext cx="967589" cy="10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Calibri"/>
              </a:rPr>
              <a:t>Data &amp; Memory Layer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607184" y="4815425"/>
            <a:ext cx="6365717" cy="9194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607184" y="5054139"/>
            <a:ext cx="6365717" cy="44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Captures every step of the journey: Discovery → Profiling → Enrichment → Product spec → Mappings → Views → Publication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Context graph: all artifacts and their interdependencies in one queryable knowledge store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Light Domain Ontology (business concepts) · PROV-O provenance on every decision · Explainability &amp; traceability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Ontologies: SHACL · PROV-O · DCAT-2 · W3C · Custom product 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Insight Extraction Engine reads from here → improves agent playbooks + skills (feedback loop)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607184" y="4815425"/>
            <a:ext cx="6365717" cy="155606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1" name="Rounded Rectangle 320"/>
          <p:cNvSpPr/>
          <p:nvPr/>
        </p:nvSpPr>
        <p:spPr>
          <a:xfrm>
            <a:off x="607184" y="4886155"/>
            <a:ext cx="6365717" cy="84876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2" name="TextBox 321"/>
          <p:cNvSpPr txBox="1"/>
          <p:nvPr/>
        </p:nvSpPr>
        <p:spPr>
          <a:xfrm>
            <a:off x="607184" y="4879966"/>
            <a:ext cx="6365717" cy="97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Knowledge Graph  ·  System of Record  ·  Brain of the Data Workbench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7114362" y="4815425"/>
            <a:ext cx="2475556" cy="9194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4" name="TextBox 323"/>
          <p:cNvSpPr txBox="1"/>
          <p:nvPr/>
        </p:nvSpPr>
        <p:spPr>
          <a:xfrm>
            <a:off x="7114362" y="5054139"/>
            <a:ext cx="2475556" cy="44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Project data + scoping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Workflow + stage run records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Guide-me history · Product requests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Chat sessions · Ingest drafts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CLI reads project context from here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7114362" y="4815425"/>
            <a:ext cx="2475556" cy="155606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6" name="Rounded Rectangle 325"/>
          <p:cNvSpPr/>
          <p:nvPr/>
        </p:nvSpPr>
        <p:spPr>
          <a:xfrm>
            <a:off x="7114362" y="4886155"/>
            <a:ext cx="2475556" cy="84876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7114362" y="4879966"/>
            <a:ext cx="2475556" cy="97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SQLite  ·  Structured Memory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9731379" y="4815425"/>
            <a:ext cx="1881423" cy="9194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9731379" y="5054139"/>
            <a:ext cx="1881423" cy="44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Agent SDK managed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Conversational + task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Per-session context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Harness-level persistence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Distinct from SQLite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9731379" y="4815425"/>
            <a:ext cx="1881423" cy="155606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1" name="Rounded Rectangle 330"/>
          <p:cNvSpPr/>
          <p:nvPr/>
        </p:nvSpPr>
        <p:spPr>
          <a:xfrm>
            <a:off x="9731379" y="4886155"/>
            <a:ext cx="1881423" cy="84876"/>
          </a:xfrm>
          <a:prstGeom prst="roundRect">
            <a:avLst/>
          </a:prstGeom>
          <a:solidFill>
            <a:srgbClr val="7048E8"/>
          </a:solidFill>
          <a:ln w="1524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9731379" y="4879966"/>
            <a:ext cx="1881423" cy="97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Harness Memory  ·  Unstructured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508161" y="5890524"/>
            <a:ext cx="11175371" cy="693155"/>
          </a:xfrm>
          <a:prstGeom prst="roundRect">
            <a:avLst/>
          </a:prstGeom>
          <a:solidFill>
            <a:srgbClr val="F1F5F9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508161" y="6192895"/>
            <a:ext cx="11175371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Key Architecture Principles</a:t>
            </a:r>
          </a:p>
        </p:txBody>
      </p:sp>
      <p:sp>
        <p:nvSpPr>
          <p:cNvPr id="335" name="Rounded Rectangle 334"/>
          <p:cNvSpPr/>
          <p:nvPr/>
        </p:nvSpPr>
        <p:spPr>
          <a:xfrm>
            <a:off x="578892" y="6067349"/>
            <a:ext cx="1732889" cy="45974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578892" y="6120397"/>
            <a:ext cx="1732889" cy="35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Contract-First 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 defines the product contract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before binding to sources (dpe-cf)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ODCS as the spec standard</a:t>
            </a:r>
          </a:p>
        </p:txBody>
      </p:sp>
      <p:sp>
        <p:nvSpPr>
          <p:cNvPr id="337" name="Rounded Rectangle 336"/>
          <p:cNvSpPr/>
          <p:nvPr/>
        </p:nvSpPr>
        <p:spPr>
          <a:xfrm>
            <a:off x="2382512" y="6067349"/>
            <a:ext cx="1732889" cy="45974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8" name="TextBox 337"/>
          <p:cNvSpPr txBox="1"/>
          <p:nvPr/>
        </p:nvSpPr>
        <p:spPr>
          <a:xfrm>
            <a:off x="2382512" y="6120397"/>
            <a:ext cx="1732889" cy="35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Bidirectional Feedback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 ↔ Engineer loops for pushbacks,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source candidate requests, edits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Not a linear waterfall</a:t>
            </a:r>
          </a:p>
        </p:txBody>
      </p:sp>
      <p:sp>
        <p:nvSpPr>
          <p:cNvPr id="339" name="Rounded Rectangle 338"/>
          <p:cNvSpPr/>
          <p:nvPr/>
        </p:nvSpPr>
        <p:spPr>
          <a:xfrm>
            <a:off x="4186132" y="6067349"/>
            <a:ext cx="1732889" cy="45974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4186132" y="6120397"/>
            <a:ext cx="1739962" cy="35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Portability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Off-the-shelf harness — no bespoke build.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Skills + concepts portable to any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compatible agent harness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5989752" y="6067349"/>
            <a:ext cx="1874350" cy="45974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2" name="TextBox 341"/>
          <p:cNvSpPr txBox="1"/>
          <p:nvPr/>
        </p:nvSpPr>
        <p:spPr>
          <a:xfrm>
            <a:off x="5989752" y="6120397"/>
            <a:ext cx="1874350" cy="35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Self-Improving Skills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Insight Extraction Engine reads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artifacts → improves playbooks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Reflector → Curator → Updated skills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7934832" y="6067349"/>
            <a:ext cx="1732889" cy="45974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4" name="TextBox 343"/>
          <p:cNvSpPr txBox="1"/>
          <p:nvPr/>
        </p:nvSpPr>
        <p:spPr>
          <a:xfrm>
            <a:off x="7934832" y="6120397"/>
            <a:ext cx="1732889" cy="35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Full Provenance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Every decision traced with W3C PROV-O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Who approved what, when, and why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Engineer · PO · AI · Steward agents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9738452" y="6067349"/>
            <a:ext cx="1874350" cy="45974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6" name="TextBox 345"/>
          <p:cNvSpPr txBox="1"/>
          <p:nvPr/>
        </p:nvSpPr>
        <p:spPr>
          <a:xfrm>
            <a:off x="9738452" y="6120397"/>
            <a:ext cx="1874350" cy="35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Light Semantic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Neo4j domain graph exposes business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concepts extracted from all products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E1E1E"/>
                </a:solidFill>
                <a:latin typeface="Calibri"/>
              </a:rPr>
              <a:t>Not a full semantic layer implementation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5742196" y="4511285"/>
            <a:ext cx="1230705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D28D9"/>
                </a:solidFill>
                <a:latin typeface="Calibri"/>
              </a:rPr>
              <a:t>all skills read + write Neo4j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6095847" y="2354014"/>
            <a:ext cx="2800915" cy="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C757D"/>
                </a:solidFill>
                <a:latin typeface="Calibri"/>
              </a:rPr>
              <a:t>↓  Each phase is executed by Agent Skills via the Agent Harness  ↓</a:t>
            </a:r>
          </a:p>
        </p:txBody>
      </p:sp>
      <p:sp>
        <p:nvSpPr>
          <p:cNvPr id="4" name="Arrow 237"/>
          <p:cNvSpPr/>
          <p:nvPr/>
        </p:nvSpPr>
        <p:spPr>
          <a:xfrm>
            <a:off x="1300340" y="1385010"/>
            <a:ext cx="10029542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BFDBF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Arrow 238"/>
          <p:cNvSpPr/>
          <p:nvPr/>
        </p:nvSpPr>
        <p:spPr>
          <a:xfrm>
            <a:off x="1300340" y="1583055"/>
            <a:ext cx="10029542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FDE6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Arrow 239"/>
          <p:cNvSpPr/>
          <p:nvPr/>
        </p:nvSpPr>
        <p:spPr>
          <a:xfrm>
            <a:off x="2969572" y="1759880"/>
            <a:ext cx="106096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868E96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 240"/>
          <p:cNvSpPr/>
          <p:nvPr/>
        </p:nvSpPr>
        <p:spPr>
          <a:xfrm>
            <a:off x="4702462" y="1759880"/>
            <a:ext cx="10609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868E96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 241"/>
          <p:cNvSpPr/>
          <p:nvPr/>
        </p:nvSpPr>
        <p:spPr>
          <a:xfrm>
            <a:off x="6435352" y="1759880"/>
            <a:ext cx="10609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868E96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Arrow 242"/>
          <p:cNvSpPr/>
          <p:nvPr/>
        </p:nvSpPr>
        <p:spPr>
          <a:xfrm>
            <a:off x="8168242" y="1759880"/>
            <a:ext cx="10609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868E96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rrow 243"/>
          <p:cNvSpPr/>
          <p:nvPr/>
        </p:nvSpPr>
        <p:spPr>
          <a:xfrm>
            <a:off x="9901132" y="1759880"/>
            <a:ext cx="106095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15240">
            <a:solidFill>
              <a:srgbClr val="868E96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 244"/>
          <p:cNvSpPr/>
          <p:nvPr/>
        </p:nvSpPr>
        <p:spPr>
          <a:xfrm>
            <a:off x="706206" y="3308871"/>
            <a:ext cx="1527772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 245"/>
          <p:cNvSpPr/>
          <p:nvPr/>
        </p:nvSpPr>
        <p:spPr>
          <a:xfrm>
            <a:off x="706206" y="3860567"/>
            <a:ext cx="1527772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 246"/>
          <p:cNvSpPr/>
          <p:nvPr/>
        </p:nvSpPr>
        <p:spPr>
          <a:xfrm>
            <a:off x="2523972" y="3308871"/>
            <a:ext cx="1527772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 247"/>
          <p:cNvSpPr/>
          <p:nvPr/>
        </p:nvSpPr>
        <p:spPr>
          <a:xfrm>
            <a:off x="2523972" y="3860567"/>
            <a:ext cx="1527772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 248"/>
          <p:cNvSpPr/>
          <p:nvPr/>
        </p:nvSpPr>
        <p:spPr>
          <a:xfrm>
            <a:off x="4341738" y="3308871"/>
            <a:ext cx="1527772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rrow 249"/>
          <p:cNvSpPr/>
          <p:nvPr/>
        </p:nvSpPr>
        <p:spPr>
          <a:xfrm>
            <a:off x="4341738" y="3860567"/>
            <a:ext cx="1527772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rrow 250"/>
          <p:cNvSpPr/>
          <p:nvPr/>
        </p:nvSpPr>
        <p:spPr>
          <a:xfrm>
            <a:off x="6159504" y="3308871"/>
            <a:ext cx="1527773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rrow 251"/>
          <p:cNvSpPr/>
          <p:nvPr/>
        </p:nvSpPr>
        <p:spPr>
          <a:xfrm>
            <a:off x="6159504" y="3860567"/>
            <a:ext cx="1527773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Arrow 252"/>
          <p:cNvSpPr/>
          <p:nvPr/>
        </p:nvSpPr>
        <p:spPr>
          <a:xfrm>
            <a:off x="7977270" y="3308871"/>
            <a:ext cx="1527773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Arrow 253"/>
          <p:cNvSpPr/>
          <p:nvPr/>
        </p:nvSpPr>
        <p:spPr>
          <a:xfrm>
            <a:off x="7977270" y="3860567"/>
            <a:ext cx="1527773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Arrow 254"/>
          <p:cNvSpPr/>
          <p:nvPr/>
        </p:nvSpPr>
        <p:spPr>
          <a:xfrm>
            <a:off x="9795036" y="3308871"/>
            <a:ext cx="172581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Arrow 255"/>
          <p:cNvSpPr/>
          <p:nvPr/>
        </p:nvSpPr>
        <p:spPr>
          <a:xfrm>
            <a:off x="9795036" y="3860567"/>
            <a:ext cx="1725817" cy="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7620">
            <a:solidFill>
              <a:srgbClr val="D1FA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Arrow 256"/>
          <p:cNvSpPr/>
          <p:nvPr/>
        </p:nvSpPr>
        <p:spPr>
          <a:xfrm>
            <a:off x="5459275" y="4433481"/>
            <a:ext cx="1" cy="11316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15240">
            <a:solidFill>
              <a:srgbClr val="7048E8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rrow 257"/>
          <p:cNvSpPr/>
          <p:nvPr/>
        </p:nvSpPr>
        <p:spPr>
          <a:xfrm>
            <a:off x="5572444" y="4433481"/>
            <a:ext cx="1" cy="11316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7048E8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ow 258"/>
          <p:cNvSpPr/>
          <p:nvPr/>
        </p:nvSpPr>
        <p:spPr>
          <a:xfrm>
            <a:off x="6972902" y="3627157"/>
            <a:ext cx="1" cy="183898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B8A3E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Intro — What is Data Workbench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18666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53533"/>
            <a:ext cx="12192000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9466" y="67734"/>
            <a:ext cx="2133586" cy="4571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293B"/>
                </a:solidFill>
              </a:rPr>
              <a:t>Data Workbench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466" y="465667"/>
            <a:ext cx="486147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An AI-powered platform for building, governing, and publishing enterprise data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5615" y="211667"/>
            <a:ext cx="234691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1E293B"/>
                </a:solidFill>
              </a:rPr>
              <a:t>AI-Powered  ·  Human-Governed  ·  AI-Ready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8176" y="423333"/>
            <a:ext cx="218435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E293B"/>
                </a:solidFill>
              </a:rPr>
              <a:t>Engineering Workbench  +  Product Workbench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846666"/>
            <a:ext cx="2794000" cy="3488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666" y="846666"/>
            <a:ext cx="2794000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999" y="990600"/>
            <a:ext cx="1518897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What is Data Workbench?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999" y="1236134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 workbench where AI agents and humans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99" y="1380067"/>
            <a:ext cx="223515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collaborate to build governed data products.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999" y="1524000"/>
            <a:ext cx="208275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Agent skills automate the heavy lifting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999" y="1667933"/>
            <a:ext cx="198116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engineers and product owners review 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999" y="1811867"/>
            <a:ext cx="111757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approve at every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99" y="2175933"/>
            <a:ext cx="111758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Two Workbench Shells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199" y="2455333"/>
            <a:ext cx="2556933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5733" y="2523067"/>
            <a:ext cx="106677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Engineering Workbench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733" y="2667000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pipeline: discover → profile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733" y="2794000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map → quality → publish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199" y="3031066"/>
            <a:ext cx="2556933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5733" y="30988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Product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733" y="3242733"/>
            <a:ext cx="1417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Design products contract-first,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5733" y="3369733"/>
            <a:ext cx="1600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validate and publish to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999" y="3733800"/>
            <a:ext cx="838185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Knowledge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999" y="3903133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Neo4j: all assets, semantics,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999" y="4038599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lineage &amp; provenance in one graph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34266" y="846666"/>
            <a:ext cx="4258733" cy="16763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34266" y="846666"/>
            <a:ext cx="42587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34266" y="1015999"/>
            <a:ext cx="4258733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18933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454399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89866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759199" y="905933"/>
            <a:ext cx="35983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39266" y="1498600"/>
            <a:ext cx="440266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74733" y="1566333"/>
            <a:ext cx="169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18021" y="1803400"/>
            <a:ext cx="208275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Engineering Workbench — Pipeline &amp; Stages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1508" y="1955800"/>
            <a:ext cx="227578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Suggest: project list with pipeline stage progress chips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94599" y="846666"/>
            <a:ext cx="4258733" cy="16763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94599" y="846666"/>
            <a:ext cx="42587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94599" y="1015999"/>
            <a:ext cx="4258733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679266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814733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950199" y="905933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19533" y="905933"/>
            <a:ext cx="35983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499600" y="1498600"/>
            <a:ext cx="440266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635066" y="1566333"/>
            <a:ext cx="169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10145" y="1803400"/>
            <a:ext cx="121917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Knowledge Graph Explorer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6314" y="1955800"/>
            <a:ext cx="1706838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Suggest: Neo4j browser graph visualization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34266" y="2607733"/>
            <a:ext cx="8619066" cy="17271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234266" y="2607733"/>
            <a:ext cx="8619066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34266" y="2777066"/>
            <a:ext cx="8619066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318933" y="2667000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454399" y="2667000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589866" y="2667000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759199" y="2667000"/>
            <a:ext cx="7958666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323666" y="3285066"/>
            <a:ext cx="440266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459133" y="3352799"/>
            <a:ext cx="169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48425" y="3589867"/>
            <a:ext cx="259074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Product Workbench — Marketplace &amp; Product Authoring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3990" y="3742266"/>
            <a:ext cx="2519618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Suggest: product wizard OR published marketplace product cards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666" y="4360334"/>
            <a:ext cx="792468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Key Features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666" y="4538133"/>
            <a:ext cx="9143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38666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38666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199" y="4741334"/>
            <a:ext cx="111757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Agent-Powered Pipeline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199" y="49022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20+ AI agent skills built for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199" y="50292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engineering — discovery,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199" y="51562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profiling, mapping, quality,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58533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658533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777066" y="4741334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Human-in-the-Loop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77066" y="49022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AI output reviewed and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77066" y="50292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approved before it persists.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77066" y="5156200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Provenance tracked at each step.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78400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978400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96933" y="4741334"/>
            <a:ext cx="106677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Data Contracts (ODCS)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96933" y="4902200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product carries a machine-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96933" y="5029200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readable contract: schema, rules,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6933" y="5156200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lineage, and governance built in.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98266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7298266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416799" y="4741334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Two Product Types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16799" y="4902200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Source-aligned: certify existing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16799" y="50292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databases. Consumer-aligned: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16799" y="51562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design for your AI use cases.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18133" y="4639733"/>
            <a:ext cx="2218266" cy="2099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618133" y="4639733"/>
            <a:ext cx="2218266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36666" y="4741334"/>
            <a:ext cx="147317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Marketplace &amp; Discoverability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36666" y="49022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Published products searchable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6666" y="5029200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and consumable by AI agents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6666" y="5156200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and teams across the enterprise.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How It Works — Agent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18666" cy="778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753533"/>
            <a:ext cx="12192000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9466" y="101600"/>
            <a:ext cx="3169896" cy="396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How Data Workbench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466" y="465667"/>
            <a:ext cx="575553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Three lifecycle phases — AI does the heavy lifting, humans provide judgment and approval at every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5615" y="211667"/>
            <a:ext cx="234691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1E293B"/>
                </a:solidFill>
              </a:rPr>
              <a:t>From raw database to AI-ready data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0573" y="423333"/>
            <a:ext cx="203196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E293B"/>
                </a:solidFill>
              </a:rPr>
              <a:t>Governed  ·  Contracted  ·  Discoverable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846666"/>
            <a:ext cx="3759199" cy="318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666" y="846666"/>
            <a:ext cx="3759199" cy="372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666" y="1168400"/>
            <a:ext cx="3759199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266" y="931333"/>
            <a:ext cx="440266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" y="956733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133" y="931333"/>
            <a:ext cx="1188702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Discover &amp;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133" y="1236134"/>
            <a:ext cx="325113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AI agents scan your source databases, build the knowledge graph,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133" y="1524000"/>
            <a:ext cx="60958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 Skills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199" y="17441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199" y="17441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1866" y="1769533"/>
            <a:ext cx="1691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data-discovery — schema, columns, FKs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199" y="1930399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199" y="1930399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1866" y="1955799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data-profiling — row counts, patterns, types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199" y="2116666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199" y="2116666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1866" y="2142066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metadata-enrichment — AI-written descriptions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199" y="23029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199" y="23029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1866" y="2328333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column-name-standardization — naming rules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199" y="2489200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199" y="2489200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1866" y="251460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data-quality-rule-generation — observation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133" y="3539067"/>
            <a:ext cx="50799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Human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133" y="3682999"/>
            <a:ext cx="2148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Engineer: review AI-generated descriptions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133" y="3801533"/>
            <a:ext cx="1691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and approve or edit recommended names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6400" y="846666"/>
            <a:ext cx="3759199" cy="318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16400" y="846666"/>
            <a:ext cx="3759199" cy="372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216400" y="1168400"/>
            <a:ext cx="3759199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18000" y="931333"/>
            <a:ext cx="440266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78113" y="956733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Phase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9866" y="931333"/>
            <a:ext cx="1122663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Design &amp; Contract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51866" y="1236134"/>
            <a:ext cx="330193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Product Owner designs the data product; ODCS contract is authored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1866" y="1524000"/>
            <a:ext cx="60958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 Skills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34933" y="17441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334933" y="17441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19600" y="1769533"/>
            <a:ext cx="2103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odcs-specification — contract authoring wizard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34933" y="1930399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34933" y="1930399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19600" y="1955799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domain-rule-enhancement — catalog-based rules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34933" y="2116666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334933" y="2116666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19600" y="2142066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data-mapping-neo4j — source-to-target mapping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4933" y="23029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34933" y="23029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19600" y="2328333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source-product-validation — PO approval gate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34933" y="2489200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334933" y="2489200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19600" y="2514600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data-product-schema-advisor — column guidance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51866" y="3539067"/>
            <a:ext cx="50799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Human Role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1866" y="3682999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Product Owner: validate names, descriptions,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51866" y="3801533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schema and approve observation rules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94133" y="846666"/>
            <a:ext cx="3759199" cy="318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094133" y="846666"/>
            <a:ext cx="3759199" cy="372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94133" y="1168400"/>
            <a:ext cx="3759199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95733" y="931333"/>
            <a:ext cx="440266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55846" y="956733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Phase 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7600" y="931333"/>
            <a:ext cx="990585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599" y="1236134"/>
            <a:ext cx="330193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Virtual serving views generated; product published to marketplace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599" y="1524000"/>
            <a:ext cx="60958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 Skills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12666" y="17441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212666" y="17441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97333" y="1769533"/>
            <a:ext cx="2148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odcs-to-dprod — materialise product graph nodes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12666" y="1930399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212666" y="1930399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97333" y="1955799"/>
            <a:ext cx="2148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data-serving-virtual-view — SQL view generation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12666" y="2116666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212666" y="2116666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97333" y="2142066"/>
            <a:ext cx="1965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data-quality-testing — test suite execution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12666" y="2302933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212666" y="2302933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97333" y="2328333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data-product-scoring — OSI readiness score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12666" y="2489200"/>
            <a:ext cx="35221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212666" y="2489200"/>
            <a:ext cx="25400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297333" y="251460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marketplace-publish — discovery + AI consumption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599" y="3539067"/>
            <a:ext cx="50799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Human Role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599" y="3682999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Engineer: review serving views,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599" y="3801533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confirm deployment to marketplace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8666" y="4114799"/>
            <a:ext cx="11514666" cy="677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38666" y="4114799"/>
            <a:ext cx="11514666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338666" y="4284133"/>
            <a:ext cx="11514666" cy="5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23333" y="4174066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58800" y="4174066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94266" y="4174066"/>
            <a:ext cx="93133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63599" y="4174066"/>
            <a:ext cx="10854266" cy="93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875866" y="4267200"/>
            <a:ext cx="440266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011333" y="4334933"/>
            <a:ext cx="169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140239" y="4572000"/>
            <a:ext cx="391152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Suggest: Mapping Review Panel — AI column mappings awaiting engineer approval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03092" y="4724400"/>
            <a:ext cx="418581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Shows human-in-the-loop review: source → target column mappings with transform logic and quality rating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8666" y="4800600"/>
            <a:ext cx="792468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What You Get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8666" y="4978400"/>
            <a:ext cx="829733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338666" y="5080000"/>
            <a:ext cx="2785533" cy="165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38666" y="5080000"/>
            <a:ext cx="2785533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7199" y="5181600"/>
            <a:ext cx="111757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Governed Data Products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199" y="5342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product carries an ODCS contract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199" y="546946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with schema, quality rules, and lineage.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199" y="5596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Governance is built in, not bolted on.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42733" y="5080000"/>
            <a:ext cx="2785533" cy="165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3242733" y="5080000"/>
            <a:ext cx="2785533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361266" y="5181600"/>
            <a:ext cx="96518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AI-Ready Foundation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61266" y="5342466"/>
            <a:ext cx="1783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Certified products that AI applications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61266" y="5469466"/>
            <a:ext cx="1600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can trust and reason over reliably.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61266" y="55964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Semantic layer connects data to concepts.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46800" y="5080000"/>
            <a:ext cx="2785533" cy="165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146800" y="5080000"/>
            <a:ext cx="2785533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65333" y="5181600"/>
            <a:ext cx="126997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Full Lineage &amp; Provenance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65333" y="534246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transformation, approval, and edit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65333" y="5469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captured in the Neo4j knowledge graph.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65333" y="5596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Know where every data field came from.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050866" y="5080000"/>
            <a:ext cx="2785533" cy="165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9050866" y="5080000"/>
            <a:ext cx="2785533" cy="3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169400" y="5181600"/>
            <a:ext cx="137157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Marketplace Discoverability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69400" y="534246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Products published and searchable across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169400" y="5469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teams and AI agents in the enterprise.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69400" y="5596466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 and consumer products cross-linked.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1 v1 — AI Readiness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6400" y="50800"/>
            <a:ext cx="6817299" cy="3352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Algorithms are off the shelf. Differentiation is in the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97933"/>
            <a:ext cx="629907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77% of D&amp;A leaders cite AI-ready data as a top-5 investment priority.  Only 9% have a functioning data readiness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660400"/>
            <a:ext cx="10159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666" y="61806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THE AI READINESS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5333" y="618066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HOW DATA WORKBENCH CLOSES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666" y="778933"/>
            <a:ext cx="5689600" cy="440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66" y="812800"/>
            <a:ext cx="2986998" cy="21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"You have a database, not a data product."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66" y="1041400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— Tony Giordano, Data Workbench Practice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666" y="1303866"/>
            <a:ext cx="5689600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666" y="1303866"/>
            <a:ext cx="33866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999" y="1320800"/>
            <a:ext cx="396237" cy="396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999" y="1667933"/>
            <a:ext cx="3408619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of organizations don't develop business-aligned data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999" y="1828800"/>
            <a:ext cx="375912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Most enterprise data exists as raw, undocumented tables — invisible to AI,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999" y="1947333"/>
            <a:ext cx="309873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lacking business context, and unfit for governed consumption.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666" y="2353733"/>
            <a:ext cx="5689600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8666" y="2353733"/>
            <a:ext cx="33866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999" y="2370667"/>
            <a:ext cx="264158" cy="396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999" y="2717800"/>
            <a:ext cx="262631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have a functioning AI data readiness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999" y="2878667"/>
            <a:ext cx="380992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Organizations are planning AI initiatives without knowing which data 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999" y="2997200"/>
            <a:ext cx="386072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are ready to support them. The gap between ambition and readiness stalls AI.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666" y="3403599"/>
            <a:ext cx="5689600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8666" y="3403599"/>
            <a:ext cx="33866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999" y="3530600"/>
            <a:ext cx="3566106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Semantic fragmentation causes AI to reason incorrectly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999" y="3776133"/>
            <a:ext cx="325113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"Customer", "Client", "Account" — conflicting definitions across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999" y="3894667"/>
            <a:ext cx="309873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teams cause AI to hallucinate business answers in production.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5333" y="778933"/>
            <a:ext cx="5588000" cy="1337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5333" y="778933"/>
            <a:ext cx="5588000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3866" y="804333"/>
            <a:ext cx="213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DISCOVER &amp; UNDERSTAND AUTOMATICALLY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7733" y="1075267"/>
            <a:ext cx="296158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Agent skills scan every schema, profile every column,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7733" y="1205653"/>
            <a:ext cx="2849829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and write business descriptions from data patterns.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7733" y="1336040"/>
            <a:ext cx="3073345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Hours to a complete, governed semantic knowledge graph.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7733" y="1896533"/>
            <a:ext cx="2641535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Skills: data-discovery  ·  data-profiling  ·  metadata-enrichment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5333" y="2269066"/>
            <a:ext cx="5588000" cy="1337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5333" y="2269066"/>
            <a:ext cx="5588000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3866" y="2294466"/>
            <a:ext cx="158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CONTRACT, GOVERN &amp; QUALIFY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7733" y="2565400"/>
            <a:ext cx="346449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ODCS data contracts encode business rules, quality thresholds,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7733" y="2695786"/>
            <a:ext cx="184400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and lineage for every data asset.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7733" y="2826173"/>
            <a:ext cx="352037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Domain knowledge catalogs pre-load governance rules per domain.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7733" y="3386666"/>
            <a:ext cx="260089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Skills: domain-rule-enhancement  ·  data-quality-rule-generation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5333" y="3759199"/>
            <a:ext cx="5588000" cy="1337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65333" y="3759199"/>
            <a:ext cx="5588000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3866" y="3784599"/>
            <a:ext cx="121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MAP, SERVE &amp; PUBLISH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7733" y="4055533"/>
            <a:ext cx="329686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AI maps source columns to target schemas with full lineage.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7733" y="4185920"/>
            <a:ext cx="3017466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Virtual serving views generated, tested, and deployed.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7733" y="4316306"/>
            <a:ext cx="346449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293B"/>
                </a:solidFill>
              </a:rPr>
              <a:t>Published to a searchable data marketplace — days, not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7733" y="4876800"/>
            <a:ext cx="296664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Skills: data-mapping-neo4j  ·  data-serving-virtual-view  ·  data-scoring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858933"/>
            <a:ext cx="12192000" cy="999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94560" y="5977466"/>
            <a:ext cx="780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"By 2027, organizations prioritizing semantics in AI-ready data will achieve 80% higher agentic AI accuracy and 60% lower cost."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27120" y="6223000"/>
            <a:ext cx="4937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Gartner  ·  Prioritize Semantics to Overcome the Agentic Contextualization Gap  ·  May 2026  ·  ID G00852605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1445" y="6510866"/>
            <a:ext cx="502911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The question isn't whether to build data products. It's whether you can do it fast enough.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1 v2 — AI Builds the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88920" y="42333"/>
            <a:ext cx="661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We use AI to build the data foundation. So AI can build on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4864" y="389467"/>
            <a:ext cx="650227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AI agent innovation applied to the domain of data engineering — building the certified foundation that enterprise AI depends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3333" y="660400"/>
            <a:ext cx="1185333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8666" y="778933"/>
            <a:ext cx="4233333" cy="4690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666" y="778933"/>
            <a:ext cx="4233333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199" y="821267"/>
            <a:ext cx="1981170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APPLIED TO DATA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133" y="1134534"/>
            <a:ext cx="330193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Data Workbench applies AI agent innovation to the domain of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133" y="1261534"/>
            <a:ext cx="309873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Purpose-built agent skills that do the data engineering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133" y="15578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2666" y="1583266"/>
            <a:ext cx="894064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Schema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666" y="1735666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scan every table, column, FK, index · hours not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133" y="21674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2666" y="2192867"/>
            <a:ext cx="782306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Data Profiling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666" y="2345266"/>
            <a:ext cx="2697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Statistical patterns, nulls, cardinality, anomaly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133" y="27770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666" y="2802467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Metadata Enrichment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666" y="2954866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writes business descriptions · human approves or corrects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133" y="33866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2666" y="3412066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Intelligent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666" y="3564466"/>
            <a:ext cx="2834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Source→target column mapping with full lineage · human 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133" y="39962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2666" y="4021666"/>
            <a:ext cx="94994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Quality Assurance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666" y="4174066"/>
            <a:ext cx="2788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 rules from catalogs · observation rules from profiling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4133" y="4605866"/>
            <a:ext cx="254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2666" y="4631267"/>
            <a:ext cx="838185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666" y="4783666"/>
            <a:ext cx="2697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Virtual views + ODCS contract + marketplace listing in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199" y="4995333"/>
            <a:ext cx="3996266" cy="372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5733" y="5054600"/>
            <a:ext cx="3337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Human-in-the-loop at every step  ·  Active Learning  ·  PROV-O Provenance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5733" y="5190066"/>
            <a:ext cx="3291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Every approval improves future runs.  Every rejection trains the system.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373" y="2946400"/>
            <a:ext cx="274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builds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1446" y="2946400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enables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9066" y="778933"/>
            <a:ext cx="2573866" cy="4690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09066" y="778933"/>
            <a:ext cx="2573866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27600" y="812800"/>
            <a:ext cx="924547" cy="21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DATA PRODUCTS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3060" y="1151466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Output of agent work on data.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3040" y="1278466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Foundation enterprise AI depends 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44533" y="1490133"/>
            <a:ext cx="1117600" cy="9143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83293" y="15663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SOURCE-ALIGNED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6624" y="1701800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Certify what you have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1828800"/>
            <a:ext cx="81278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Existing databases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1964266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Profiled &amp; governed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2099733"/>
            <a:ext cx="894058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Contract synthesized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9866" y="1490133"/>
            <a:ext cx="1117600" cy="9143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22906" y="1566333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CONSUMER-ALIGNED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2596" y="1701800"/>
            <a:ext cx="77214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Build what you need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4533" y="1828800"/>
            <a:ext cx="93469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Contract-first schema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4533" y="1964266"/>
            <a:ext cx="56894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Agent-mapped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4533" y="2099733"/>
            <a:ext cx="93469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· Marketplace-published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44533" y="2489200"/>
            <a:ext cx="728133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05405" y="2514600"/>
            <a:ext cx="40639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Contracted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23466" y="2489200"/>
            <a:ext cx="728133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24977" y="2514600"/>
            <a:ext cx="32511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02400" y="2489200"/>
            <a:ext cx="728133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703910" y="2514600"/>
            <a:ext cx="32511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AI-Ready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44533" y="2777066"/>
            <a:ext cx="2302933" cy="3217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562611" y="2836334"/>
            <a:ext cx="106677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Neo4j Knowledge Graph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64498" y="2980267"/>
            <a:ext cx="146300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System of record for all data assets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44533" y="3200400"/>
            <a:ext cx="2302933" cy="541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78780" y="3276599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AI applied to every domain.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55920" y="3412066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Workbench applies it to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1660" y="3547533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the domain of data.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44533" y="3776133"/>
            <a:ext cx="2302933" cy="982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867402" y="3674534"/>
            <a:ext cx="457197" cy="4571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E293B"/>
                </a:solidFill>
              </a:rPr>
              <a:t>83%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27054" y="4148667"/>
            <a:ext cx="113789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of organizations don't build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08332" y="4267200"/>
            <a:ext cx="97533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products aligned 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89610" y="4385733"/>
            <a:ext cx="81278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business objectives.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22631" y="4563534"/>
            <a:ext cx="746739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— Gartner 2024 Survey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44533" y="4876800"/>
            <a:ext cx="728133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85086" y="4927600"/>
            <a:ext cx="44702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Source 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08066" y="4919133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23466" y="4876800"/>
            <a:ext cx="728133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823380" y="4927600"/>
            <a:ext cx="52830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87000" y="4919133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02400" y="4876800"/>
            <a:ext cx="728133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683591" y="4927600"/>
            <a:ext cx="36575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AI Agents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19999" y="778933"/>
            <a:ext cx="4233333" cy="4690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7619999" y="778933"/>
            <a:ext cx="4233333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738533" y="821267"/>
            <a:ext cx="1650975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THAT RUNS ON YOUR DATA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55466" y="1134534"/>
            <a:ext cx="320033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Enterprise AI needs certified, governed, semantically-rich data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5466" y="1261534"/>
            <a:ext cx="284474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to reason correctly and return trusted answers at scale.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55466" y="1557866"/>
            <a:ext cx="25400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73999" y="1583266"/>
            <a:ext cx="1564612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Natural Language Data Access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73999" y="1735666"/>
            <a:ext cx="2377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Ask in business terms. Agent routes to the certified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73999" y="1842346"/>
            <a:ext cx="2240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product. Returns a governed, trusted answer.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55466" y="2252133"/>
            <a:ext cx="25400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873999" y="2277533"/>
            <a:ext cx="94994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Agentic Workflows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73999" y="2429933"/>
            <a:ext cx="2331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Multi-step AI processes grounded in certified data.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73999" y="2536613"/>
            <a:ext cx="2286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No hallucination — agents access governed sources.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55466" y="2946400"/>
            <a:ext cx="25400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873999" y="2971800"/>
            <a:ext cx="167637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Automated Analytics &amp; Insights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73999" y="3124200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reason directly over data products.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73999" y="3230880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Consistent KPIs, no conflicting definitions.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55466" y="3640666"/>
            <a:ext cx="25400" cy="491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873999" y="3666066"/>
            <a:ext cx="178812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AI-Powered Business Applications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73999" y="3818466"/>
            <a:ext cx="2057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Apps built on a foundation of certified data.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73999" y="3925146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Semantic context baked in — not retrofitted.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38533" y="4690533"/>
            <a:ext cx="3996266" cy="677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857066" y="4766733"/>
            <a:ext cx="2103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"By 2027, organizations prioritizing semantics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57066" y="4902200"/>
            <a:ext cx="1783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will achieve 80% higher AI accuracy and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57066" y="5037666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60% lower cost."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57066" y="5181600"/>
            <a:ext cx="1503643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Gartner  ·  May 2026  ·  ID G00852605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5604933"/>
            <a:ext cx="12192000" cy="1253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987076" y="5731933"/>
            <a:ext cx="6217848" cy="259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</a:rPr>
              <a:t>The agents building the foundation.  The foundation enabling the agents.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60840" y="6019800"/>
            <a:ext cx="447032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AI innovation applied to the domain of data — so data can power everything else.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77022" y="6341533"/>
            <a:ext cx="463795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What would it look like if your data engineering practice moved at the speed of AI?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2 v1 — DB vs Data Product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6400" y="59266"/>
            <a:ext cx="714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Every AI use case starts with a data product you haven't built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97933"/>
            <a:ext cx="497830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Agent skills automate the heavy lifting. Engineers focus on judgment, quality, and business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626533"/>
            <a:ext cx="10159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0400"/>
            <a:ext cx="12192000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1063" y="728134"/>
            <a:ext cx="634987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Databases are not data products.  Turning one into the other is where AI initiatives stall — and where Data Workbench starts.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1007533"/>
            <a:ext cx="3429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THE DATABASE APPROACH  —  undocumented, ungoverned, no contract, no lineage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666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6674" y="12192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Schema Discovery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599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7326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3–5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266" y="1676400"/>
            <a:ext cx="111757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DBAs manually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266" y="1811867"/>
            <a:ext cx="116837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tables, columns, types,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266" y="1947333"/>
            <a:ext cx="66038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relationships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6133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6133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63342" y="1219200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Data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31066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14793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2–4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7733" y="1676400"/>
            <a:ext cx="137157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Analysts write descriptions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7733" y="1811867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— often incomplete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7733" y="1947333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or out of 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3600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73600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32407" y="12192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Column Mapping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8533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82260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2–3 weeks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5200" y="1676400"/>
            <a:ext cx="101598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Engineers map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5200" y="1811867"/>
            <a:ext cx="126997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to target in spreadsheets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5200" y="1947333"/>
            <a:ext cx="60958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— no lineage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1066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41066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25273" y="1219200"/>
            <a:ext cx="66038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Quality Rules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5999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49726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1–3 weeks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2666" y="1676400"/>
            <a:ext cx="106677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Rules defined ad hoc,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2666" y="1811867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per-project, never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2666" y="1947333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reused or governed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8533" y="1185333"/>
            <a:ext cx="1828799" cy="1481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08533" y="11853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91142" y="12192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Deploy &amp; Document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33466" y="1490133"/>
            <a:ext cx="778933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17193" y="14986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weeks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0133" y="1676400"/>
            <a:ext cx="101598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View built manually.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0133" y="1811867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No contract, 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0133" y="1947333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marketplace entry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176000" y="1371600"/>
            <a:ext cx="846666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370733" y="1464733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Ungoverned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79293" y="16171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database 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96135" y="1778000"/>
            <a:ext cx="406396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</a:rPr>
              <a:t>8–17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85033" y="2057400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weeks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49333" y="2861733"/>
            <a:ext cx="1693333" cy="2032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06000" y="2870200"/>
            <a:ext cx="18000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vs.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400" y="3191933"/>
            <a:ext cx="3520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THE DATA PRODUCT APPROACH  —  contracted, governed, documented, AI-consumable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666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38666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7473" y="34036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Auto-Discovery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2133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93046" y="36829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2–4 hrs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3333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4153" y="4741334"/>
            <a:ext cx="497826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data-discovery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0266" y="3869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scan every table,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0266" y="3996266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column, and FK 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0266" y="4123266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fully documented to graph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06133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506133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4141" y="34036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Profile &amp; Enrich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49600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260513" y="36829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1–3 hrs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90800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780471" y="4741334"/>
            <a:ext cx="1280124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data-profiling + metadata-enrichment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07733" y="3869266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writes descriptions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07733" y="399626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from profiling data.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07733" y="4123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Human approves or edits.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73600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673600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05410" y="3403600"/>
            <a:ext cx="96518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Intelligent Mapping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17066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27980" y="36829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hrs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8266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267969" y="4741334"/>
            <a:ext cx="64006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data-mapping-neo4j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75200" y="3869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maps source to target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75200" y="3996266"/>
            <a:ext cx="822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with full lineage.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75200" y="4123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Human reviews, approves.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41066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841066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374474" y="3403600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Quality &amp; Rules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84533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595446" y="36829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hrs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25733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257640" y="4741334"/>
            <a:ext cx="99565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data-quality-rule-generation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42666" y="3869266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 rules from catalog.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42666" y="3996266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Observation rules from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42666" y="4123266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profiling. Auto-generated.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8533" y="3369733"/>
            <a:ext cx="1828799" cy="1608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9008533" y="3369733"/>
            <a:ext cx="18287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541941" y="3403600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52000" y="3674533"/>
            <a:ext cx="541866" cy="16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85773" y="3682999"/>
            <a:ext cx="274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&lt; 1 hr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93200" y="4724400"/>
            <a:ext cx="165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478446" y="4741334"/>
            <a:ext cx="888975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data-serving-virtual-view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10133" y="3869266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Virtual view generated.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10133" y="3996266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ODCS contract attached.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10133" y="4123266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Published to marketplace.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176000" y="3403599"/>
            <a:ext cx="846666" cy="142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416453" y="3496733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25013" y="3649133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96135" y="3843866"/>
            <a:ext cx="406396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</a:rPr>
              <a:t>Days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396138" y="4182533"/>
            <a:ext cx="40639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Contract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16458" y="4318000"/>
            <a:ext cx="36575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Lineage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94541" y="4453467"/>
            <a:ext cx="609585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Quality Rules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335180" y="4588933"/>
            <a:ext cx="52830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Marketplace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38666" y="5266266"/>
            <a:ext cx="2777066" cy="8635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199" y="5350933"/>
            <a:ext cx="97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20+ Agent Skills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199" y="5571067"/>
            <a:ext cx="132077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Each with domain expertise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199" y="5689600"/>
            <a:ext cx="162556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and provenance-tracked approvals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51200" y="5266266"/>
            <a:ext cx="2777066" cy="8635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369733" y="5350933"/>
            <a:ext cx="1036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Two Product Types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69733" y="5571067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Source-aligned: certify what you have.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69733" y="5689600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Consumer-aligned: build what you need.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163733" y="5266266"/>
            <a:ext cx="2777066" cy="8635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282266" y="5350933"/>
            <a:ext cx="1036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Human-in-the-Loop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82266" y="5571067"/>
            <a:ext cx="167636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Engineers approve AI suggestions.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82266" y="5689600"/>
            <a:ext cx="182876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Every decision improves future runs.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076266" y="5266266"/>
            <a:ext cx="2777066" cy="8635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194800" y="5350933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Active Learning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194800" y="5571067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Rejections and edits train the system.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94800" y="5689600"/>
            <a:ext cx="187956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Accuracy improves with every project.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6333066"/>
            <a:ext cx="12192000" cy="524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926128" y="6426200"/>
            <a:ext cx="6339744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</a:rPr>
              <a:t>From source database to governed, marketplace-ready data product — measured in days, not months.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470432" y="6671733"/>
            <a:ext cx="325113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With full provenance, lineage, and human approval at every step.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51993" y="6951133"/>
            <a:ext cx="3688014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How many AI-ready data products does your organization have today?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2 v2 — AI Doing the Data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6400" y="42333"/>
            <a:ext cx="746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AI agents doing the data work.  So AI agents can do the business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89467"/>
            <a:ext cx="645147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We apply the same AI agent technology to data engineering that you'll use to run your business — building the foundation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626533"/>
            <a:ext cx="10159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0400"/>
            <a:ext cx="12192000" cy="287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16269" y="719667"/>
            <a:ext cx="695946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AI can be applied to any domain.  Data Workbench applies it to the domain of data engineering — building the foundation AI needs to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990600"/>
            <a:ext cx="2606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WITHOUT DATA WORKBENCH  —  manual, fragmented, ungoverned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666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666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6674" y="11938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Schema Discovery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0533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7326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3–5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33" y="1617133"/>
            <a:ext cx="960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DBAs document tables,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33" y="1752599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columns,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33" y="1888066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manually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6133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6133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63342" y="1193800"/>
            <a:ext cx="91438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Data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0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14793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2–4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0800" y="1617133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Analysts write descriptions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0800" y="1752599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— often incomplete,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0800" y="1888066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always stale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3600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73600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32407" y="11938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Column Mapping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5466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82260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2–3 weeks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8266" y="1617133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Engineers map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8266" y="1752599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to target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8266" y="1888066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spreadsheets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1066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41066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25273" y="1193800"/>
            <a:ext cx="66038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Quality Rules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82933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49726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1–3 weeks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5733" y="1617133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Rules ad hoc 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5733" y="1752599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project — never reused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5733" y="1888066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or governed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8533" y="1168400"/>
            <a:ext cx="1828799" cy="1312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08533" y="1168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91142" y="11938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Deploy &amp; Document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0400" y="1447800"/>
            <a:ext cx="7450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17193" y="1447800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weeks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3200" y="1617133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View built manually.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3200" y="1752599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No contract, 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3200" y="1888066"/>
            <a:ext cx="777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marketplace entry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176000" y="1320800"/>
            <a:ext cx="846666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370733" y="1413933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Ungoverned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14860" y="1557867"/>
            <a:ext cx="56894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database 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96135" y="1693333"/>
            <a:ext cx="406396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</a:rPr>
              <a:t>8–17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85033" y="1955799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weeks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34000" y="2633133"/>
            <a:ext cx="15240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64209" y="26416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AI agent skills 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400" y="2768600"/>
            <a:ext cx="3246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WITH DATA WORKBENCH AGENT SKILLS  —  AI doing the data engineering work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666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38666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7473" y="29718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Auto-Discovery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9066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93046" y="32257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2–4 hrs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6400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4153" y="4165600"/>
            <a:ext cx="497826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data-discovery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3333" y="3395133"/>
            <a:ext cx="822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Scans every table,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3333" y="3513666"/>
            <a:ext cx="822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column, FK — fully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3333" y="3632199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documented to graph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06133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506133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4141" y="29718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Profile &amp; Enrich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66533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260513" y="32257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1–3 hrs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73866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780471" y="4165600"/>
            <a:ext cx="1280124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data-profiling + metadata-enrichment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90800" y="3395133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writes descriptions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90800" y="3513666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from data patterns.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0800" y="3632199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Human approves.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73600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673600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05410" y="2971800"/>
            <a:ext cx="96518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Intelligent Mapping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4000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27980" y="32257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hrs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41333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267969" y="4165600"/>
            <a:ext cx="64006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data-mapping-neo4j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58266" y="3395133"/>
            <a:ext cx="960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maps source→target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8266" y="3513666"/>
            <a:ext cx="822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with full lineage.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58266" y="3632199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Human reviews.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41066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841066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374474" y="2971800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Quality &amp; Rules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01466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595446" y="3225799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1–2 hrs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08799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257640" y="4165600"/>
            <a:ext cx="99565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data-quality-rule-generation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25733" y="3395133"/>
            <a:ext cx="777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 rules from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25733" y="351366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catalog. Observation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25733" y="3632199"/>
            <a:ext cx="960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rules from profiling.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8533" y="2946400"/>
            <a:ext cx="1828799" cy="1439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9008533" y="2946400"/>
            <a:ext cx="1828799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541941" y="2971800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68933" y="3225800"/>
            <a:ext cx="507999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85773" y="3225799"/>
            <a:ext cx="274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&lt; 1 hr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76266" y="4148666"/>
            <a:ext cx="1693333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478446" y="4165600"/>
            <a:ext cx="888975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data-serving-virtual-view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93200" y="3395133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Virtual view + ODCS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93200" y="3513666"/>
            <a:ext cx="868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contract. Published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93200" y="3632199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to marketplace.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176000" y="3014133"/>
            <a:ext cx="846666" cy="1286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416453" y="3107266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25013" y="3242733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96135" y="3420533"/>
            <a:ext cx="406396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</a:rPr>
              <a:t>Days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396138" y="3759200"/>
            <a:ext cx="40639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Contract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16458" y="3877733"/>
            <a:ext cx="36575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Lineage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416458" y="3996266"/>
            <a:ext cx="36575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Quality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335180" y="4114800"/>
            <a:ext cx="52830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Marketplace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96138" y="4233333"/>
            <a:ext cx="40639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✓ AI-Ready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38666" y="4639733"/>
            <a:ext cx="11514666" cy="677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06400" y="4715933"/>
            <a:ext cx="3794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WHAT BECOMES POSSIBLE  —  enterprise AI with certified data products to reason over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1866" y="4876800"/>
            <a:ext cx="2768600" cy="355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6533" y="4910667"/>
            <a:ext cx="121917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Natural Language Queries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6533" y="5046133"/>
            <a:ext cx="894058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Ask in business terms.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6533" y="5140960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Get governed answers.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12066" y="4876800"/>
            <a:ext cx="2768600" cy="355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496733" y="4910667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Agentic Workflows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496733" y="5046133"/>
            <a:ext cx="93469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Multi-step AI processes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96733" y="5140960"/>
            <a:ext cx="1097253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grounded in certified data.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82266" y="4876800"/>
            <a:ext cx="2768600" cy="355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366933" y="4910667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Consistent KPIs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66933" y="5046133"/>
            <a:ext cx="113789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Semantic layer routes agents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366933" y="5140960"/>
            <a:ext cx="105661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to same governed products.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152466" y="4876800"/>
            <a:ext cx="2768600" cy="355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237133" y="4910667"/>
            <a:ext cx="7619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AI-Powered Apps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237133" y="5046133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Applications built 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37133" y="5140960"/>
            <a:ext cx="105661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 trusted data foundation.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8666" y="5503333"/>
            <a:ext cx="2785533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57199" y="5588000"/>
            <a:ext cx="97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20+ Agent Skills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199" y="5791200"/>
            <a:ext cx="177796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Purpose-built for data engineering.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7199" y="5909734"/>
            <a:ext cx="137157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Each with domain expertise.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42733" y="5503333"/>
            <a:ext cx="2785533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361266" y="5588000"/>
            <a:ext cx="1036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Two Product Types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361266" y="5791200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Source-aligned: certify what you have.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61266" y="5909734"/>
            <a:ext cx="193036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Consumer-aligned: build what you need.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46800" y="5503333"/>
            <a:ext cx="2785533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265333" y="55880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Active Learning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65333" y="5791200"/>
            <a:ext cx="182876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Every approval improves future runs.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65333" y="5909734"/>
            <a:ext cx="172716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Every rejection trains the system.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050866" y="5503333"/>
            <a:ext cx="2785533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169400" y="5588000"/>
            <a:ext cx="97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Days to AI-Ready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69400" y="5791200"/>
            <a:ext cx="152397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From raw database to governed,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69400" y="5909734"/>
            <a:ext cx="157476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marketplace-ready data product.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0" y="6299200"/>
            <a:ext cx="12192000" cy="558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211347" y="6383867"/>
            <a:ext cx="3769307" cy="21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</a:rPr>
              <a:t>AI builds the foundation.  The foundation enables AI.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05251" y="6620933"/>
            <a:ext cx="518149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The same agent technology that will run your business — applied today to build the data it depends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3 v1 — Three-Layer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265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6400" y="50800"/>
            <a:ext cx="7111930" cy="304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</a:rPr>
              <a:t>The three layers every AI initiative needs. Start with the foundation.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72533"/>
            <a:ext cx="584188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AI agents are only as good as the data they reason over.  Reliable AI begins with reliable, governed data products.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592666"/>
            <a:ext cx="1015999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94266"/>
            <a:ext cx="12192000" cy="1049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666" y="999066"/>
            <a:ext cx="38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8944" y="1016000"/>
            <a:ext cx="24891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Layer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666" y="1126067"/>
            <a:ext cx="726429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AGENTS &amp;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666" y="1261534"/>
            <a:ext cx="792468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666" y="1481666"/>
            <a:ext cx="548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The Consumer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9200" y="795866"/>
            <a:ext cx="2252133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0800" y="863600"/>
            <a:ext cx="121917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Natural Language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0800" y="1024466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Ask in business terms.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0800" y="114300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Get trusted, governed answers.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9866" y="795866"/>
            <a:ext cx="2252133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61466" y="863600"/>
            <a:ext cx="86358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Agentic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1466" y="1024466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Multi-step AI processes grounded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1466" y="1143000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in certified data products.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0533" y="795866"/>
            <a:ext cx="2252133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2133" y="863600"/>
            <a:ext cx="96518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Automated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2133" y="1024466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reason over data directly.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2133" y="1143000"/>
            <a:ext cx="12801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No manual query engineering.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795866"/>
            <a:ext cx="2252133" cy="8466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02800" y="863600"/>
            <a:ext cx="116837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AI-Powered Applications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2800" y="1024466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Apps with semantic context.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1143000"/>
            <a:ext cx="1325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Consistent KPIs across tools.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0066" y="1786467"/>
            <a:ext cx="24891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enables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913466"/>
            <a:ext cx="12192000" cy="13038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666" y="2345266"/>
            <a:ext cx="38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8944" y="2362200"/>
            <a:ext cx="24891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Layer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666" y="2472267"/>
            <a:ext cx="924546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SEMANTIC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666" y="2692400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The Router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89200" y="1998133"/>
            <a:ext cx="3039533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90800" y="2065867"/>
            <a:ext cx="152397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Business Ontology  (Top Layer)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0800" y="2226733"/>
            <a:ext cx="1508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Maps business concepts and terms.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0800" y="2345266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Ensures consistent KPIs,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90800" y="2463800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metrics, and definitions.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7266" y="1998133"/>
            <a:ext cx="3039533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48866" y="2065867"/>
            <a:ext cx="187956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Data Product Metadata  (Bottom Layer)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48866" y="2226733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Maps ontology concepts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8866" y="2345266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to certified data products.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8866" y="2463800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Bridges business to technical.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05333" y="1998133"/>
            <a:ext cx="3039533" cy="9313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06933" y="2065867"/>
            <a:ext cx="132077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Semantic Routing +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06933" y="2226733"/>
            <a:ext cx="1371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Routes AI queries to the right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6933" y="2345266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product automatically.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6933" y="2463800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Injects semantic context into prompts.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89200" y="2963333"/>
            <a:ext cx="9364133" cy="2032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24666" y="2988733"/>
            <a:ext cx="6400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Proof-of-concept dual-ontology semantic layer included in Data Workbench — demonstrates how governed data products directly power AI queries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80066" y="3259667"/>
            <a:ext cx="213354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powers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3386666"/>
            <a:ext cx="12192000" cy="2133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38666" y="4233333"/>
            <a:ext cx="389466" cy="152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08944" y="4250267"/>
            <a:ext cx="24891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Layer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666" y="4360334"/>
            <a:ext cx="858507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DATA PRODUCTS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666" y="4580466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The Foundation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89200" y="3454399"/>
            <a:ext cx="9364133" cy="270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58533" y="3496733"/>
            <a:ext cx="7152512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Data Workbench builds this layer  —  20+ agent skills, full lifecycle from source database to marketplace-published data product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89200" y="3793066"/>
            <a:ext cx="4631266" cy="1286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489200" y="3793066"/>
            <a:ext cx="4631266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607733" y="3818466"/>
            <a:ext cx="223516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SOURCE-ALIGNED  —  certify what you have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58533" y="4097867"/>
            <a:ext cx="2895543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Discovered from existing databases and data warehouses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58533" y="4301067"/>
            <a:ext cx="299714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Auto-profiled and AI-enriched with business descriptions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58533" y="4504267"/>
            <a:ext cx="299714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ODCS data contract synthesized from approved graph state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8533" y="4707467"/>
            <a:ext cx="274314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Quality rules generated from observed data patterns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58533" y="4910667"/>
            <a:ext cx="2641548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Published to marketplace with full schema lineage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22066" y="3793066"/>
            <a:ext cx="4631266" cy="12869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222066" y="3793066"/>
            <a:ext cx="4631266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40599" y="3818466"/>
            <a:ext cx="223516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CONSUMER-ALIGNED  —  build what you need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91399" y="4097867"/>
            <a:ext cx="3047940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Contract-first: schema designed before engineering begins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91399" y="4301067"/>
            <a:ext cx="309873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Product Owner shapes columns, rules, and grain in a wizard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91399" y="4504267"/>
            <a:ext cx="320033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Bound to source-aligned products via governed CONSUMES edges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91399" y="4707467"/>
            <a:ext cx="299714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Virtual serving views generated with FK-aware join logic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91399" y="4910667"/>
            <a:ext cx="2997141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293B"/>
                </a:solidFill>
              </a:rPr>
              <a:t>→  AI-ready: certified, governed, and semantically grounded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89200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998046" y="5207000"/>
            <a:ext cx="777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Contracted (ODCS)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77266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91853" y="5207000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65333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19899" y="5207000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Quality-assured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53399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730826" y="5207000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Lineage-traced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41466" y="5164666"/>
            <a:ext cx="1803399" cy="237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390293" y="5207000"/>
            <a:ext cx="10972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Marketplace-discoverable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80066" y="5545667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feeds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5689600"/>
            <a:ext cx="12192000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38666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73666" y="5808133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Relational Databases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67000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416299" y="5808133"/>
            <a:ext cx="685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Warehouses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95333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858933" y="5808133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Lakes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323666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164406" y="5808133"/>
            <a:ext cx="502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Source APIs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52000" y="5757333"/>
            <a:ext cx="2192866" cy="253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424160" y="58081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Legacy Systems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146800"/>
            <a:ext cx="12192000" cy="7112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661972" y="6256867"/>
            <a:ext cx="6868056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</a:rPr>
              <a:t>"Algorithms are off the shelf, including GenAI. Differentiation is in the readiness of the data for AI."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15840" y="6493933"/>
            <a:ext cx="2560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Gartner  ·  D&amp;A Leaders, Ready Your Data for AI  ·  2025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04961" y="6747933"/>
            <a:ext cx="4582078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Layer 1. Built. Governed. Published.  The foundation that makes the rest possible.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4800" y="0"/>
            <a:ext cx="414528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AAAAAA"/>
                </a:solidFill>
              </a:rPr>
              <a:t>Arc 3 v2 — AI Builder + AI Consumer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94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90266" y="33867"/>
            <a:ext cx="5811468" cy="3352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AI builds the foundation.  The foundation powers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5857" y="389467"/>
            <a:ext cx="5740287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The same AI agent technology applied to the domain of data engineering — building what enterprise AI will run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8666" y="660400"/>
            <a:ext cx="1354666" cy="25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8666" y="778933"/>
            <a:ext cx="3555999" cy="513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666" y="778933"/>
            <a:ext cx="3555999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199" y="821267"/>
            <a:ext cx="1122663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AS THE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053" y="8551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1E293B"/>
                </a:solidFill>
              </a:rPr>
              <a:t>Data Workbench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133" y="1134534"/>
            <a:ext cx="157476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Data Workbench applies AI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133" y="1253067"/>
            <a:ext cx="1574769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technology to data engineering: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133" y="14901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4200" y="1524000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481667"/>
            <a:ext cx="894064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Schema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634066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scan databases, discover every table,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74074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column, FK, and index — hours, not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133" y="20997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4200" y="2133600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091267"/>
            <a:ext cx="782306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Data Profiling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2436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Statistical patterns, nulls, cardinality,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350346"/>
            <a:ext cx="2011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anomalies — data quality baseline built fast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133" y="27093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4200" y="2743200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2700867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Metadata Enrichment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28532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AI writes business descriptions from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2959946"/>
            <a:ext cx="1920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patterns — human approves or corrects each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133" y="33189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4200" y="3352799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310466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Intelligent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34628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Source-to-target column mapping with full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3569546"/>
            <a:ext cx="16916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lineage — AI suggests, human approves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4133" y="39285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4200" y="3962399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3920066"/>
            <a:ext cx="94994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Quality Assurance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4072466"/>
            <a:ext cx="1737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Domain rules from knowledge catalogs 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4179146"/>
            <a:ext cx="1828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observation rules derived from profiling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4133" y="4538133"/>
            <a:ext cx="220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4200" y="4572000"/>
            <a:ext cx="18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529667"/>
            <a:ext cx="838185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Serve &amp; Publish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4682066"/>
            <a:ext cx="1874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Virtual views + ODCS contract generated 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4788746"/>
            <a:ext cx="1554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marketplace listing in under a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199" y="5401733"/>
            <a:ext cx="3318933" cy="406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1866" y="5461000"/>
            <a:ext cx="1600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Human-in-the-loop at every 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866" y="5588000"/>
            <a:ext cx="2153867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Active Learning  ·  PROV-O Provenance  ·  Neo4j Graph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63999" y="778933"/>
            <a:ext cx="4063999" cy="513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063999" y="778933"/>
            <a:ext cx="4063999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82533" y="821267"/>
            <a:ext cx="1849092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DATA PRODUCTS  —  THE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22800" y="1159933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← built by AI agents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6219" y="1159933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consumed by AI agents 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99466" y="1388533"/>
            <a:ext cx="1862666" cy="1253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75207" y="1473200"/>
            <a:ext cx="71118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SOURCE-ALIGNED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4091" y="1625600"/>
            <a:ext cx="85341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Certify what you have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84133" y="1761066"/>
            <a:ext cx="138172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Existing databases &amp; warehouses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84133" y="1913466"/>
            <a:ext cx="154428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Auto-discovered, profiled, enriched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84133" y="2065867"/>
            <a:ext cx="158492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ODCS contract synthesized from graph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84133" y="2218267"/>
            <a:ext cx="166619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Published with quality rules + lineage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9866" y="1388533"/>
            <a:ext cx="1862666" cy="1253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54807" y="1473200"/>
            <a:ext cx="812784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1E293B"/>
                </a:solidFill>
              </a:rPr>
              <a:t>CONSUMER-ALIGNED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9" y="1625600"/>
            <a:ext cx="77214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Build what you need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4533" y="1761066"/>
            <a:ext cx="138172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Contract-first schema authoring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4533" y="1913466"/>
            <a:ext cx="1463004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PO defines before engineer builds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4533" y="2065867"/>
            <a:ext cx="1544282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Mapped to source products via graph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4533" y="2218267"/>
            <a:ext cx="178811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→  AI-ready: governed, semantically grounded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99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252815" y="2777067"/>
            <a:ext cx="604503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Contracted (ODCS)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61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74830" y="2777067"/>
            <a:ext cx="284472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Governed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23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830153" y="2777067"/>
            <a:ext cx="497826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Lineage-traced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85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74374" y="2777067"/>
            <a:ext cx="533385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Quality-assured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47466" y="2743200"/>
            <a:ext cx="711200" cy="1862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176358" y="2777067"/>
            <a:ext cx="853416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Marketplace-discoverable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99466" y="3031066"/>
            <a:ext cx="3793066" cy="609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204474" y="3090334"/>
            <a:ext cx="1783053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</a:rPr>
              <a:t>AI applied to every domain.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76824" y="3302000"/>
            <a:ext cx="2438352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E293B"/>
                </a:solidFill>
              </a:rPr>
              <a:t>Data Workbench applies it to the domain of DATA.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98720" y="346286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Purpose-built agent skills for data engineering.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99466" y="3742266"/>
            <a:ext cx="3793066" cy="4064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67200" y="3818466"/>
            <a:ext cx="2606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Semantic layer  (between data products and AI consumers):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67200" y="3962400"/>
            <a:ext cx="406390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Routes AI queries to the right certified data product.  Proof-of-concept included in Data Workbench.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99466" y="4216400"/>
            <a:ext cx="3793066" cy="6096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593089" y="4258733"/>
            <a:ext cx="1005822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The Virtuous Cycle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67200" y="4419600"/>
            <a:ext cx="1788116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↺  Better data products → better AI outcomes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67200" y="4555067"/>
            <a:ext cx="2031950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↺  Better AI outcomes → more enterprise confidence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67200" y="4690533"/>
            <a:ext cx="2478979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↺  More confidence → more data products → stronger foundation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99466" y="5063066"/>
            <a:ext cx="3793066" cy="389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861560" y="5122333"/>
            <a:ext cx="2468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83% of orgs don't build business-aligned data products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38700" y="5257800"/>
            <a:ext cx="2514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Only 9% have a functioning AI data readiness assessment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7789" y="5384800"/>
            <a:ext cx="2316423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Gartner 2024 Survey — D&amp;A Leaders, Ready Your Data for AI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99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426373" y="5562600"/>
            <a:ext cx="27432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Source DB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4533" y="5554134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61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142653" y="5562600"/>
            <a:ext cx="36576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Agent Skills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16533" y="5554134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23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04653" y="5562600"/>
            <a:ext cx="36576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Data Product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78533" y="5554134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85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727613" y="5562600"/>
            <a:ext cx="2438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Semantic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40533" y="5554134"/>
            <a:ext cx="18000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→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47466" y="5503333"/>
            <a:ext cx="728133" cy="220133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474373" y="5562600"/>
            <a:ext cx="27432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1E293B"/>
                </a:solidFill>
              </a:rPr>
              <a:t>AI Agents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96453" y="3166533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builds →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06926" y="3166533"/>
            <a:ext cx="4114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E293B"/>
                </a:solidFill>
              </a:rPr>
              <a:t>→ enables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97333" y="778933"/>
            <a:ext cx="3555999" cy="5130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297333" y="778933"/>
            <a:ext cx="3555999" cy="304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415866" y="821267"/>
            <a:ext cx="1188702" cy="198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AI AS THE CONSUMER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40440" y="855133"/>
            <a:ext cx="5943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0">
                <a:solidFill>
                  <a:srgbClr val="1E293B"/>
                </a:solidFill>
              </a:rPr>
              <a:t>Enterprise AI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32800" y="1134534"/>
            <a:ext cx="1777965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Enterprise AI that needs certified,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32800" y="1253067"/>
            <a:ext cx="1727166" cy="152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E293B"/>
                </a:solidFill>
              </a:rPr>
              <a:t>governed data to reason correctly: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32800" y="1490133"/>
            <a:ext cx="3285066" cy="64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551333" y="1549400"/>
            <a:ext cx="1341096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Natural Language Queries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51333" y="1710266"/>
            <a:ext cx="1005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Ask in business terms.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51333" y="1837266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 routes to the right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51333" y="1964266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certified data product.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432800" y="2218266"/>
            <a:ext cx="3285066" cy="64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551333" y="2277533"/>
            <a:ext cx="949943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Agentic Workflows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51333" y="2438400"/>
            <a:ext cx="1051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Multi-step AI processes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51333" y="2565400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grounded in governed data.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51333" y="2692400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No hallucination at scale.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32800" y="2946400"/>
            <a:ext cx="3285066" cy="64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551333" y="3005667"/>
            <a:ext cx="1061701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Automated Analytics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51333" y="3166533"/>
            <a:ext cx="12344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Agents reason directly over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551333" y="3293533"/>
            <a:ext cx="1143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data products. Consistent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551333" y="3420533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KPIs, no conflicting defs.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32800" y="3674533"/>
            <a:ext cx="3285066" cy="6434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551333" y="3733800"/>
            <a:ext cx="1285217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AI-Powered Applications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551333" y="3894666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Apps with semantic context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51333" y="4021666"/>
            <a:ext cx="960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baked in — built on 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551333" y="4148666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certified data foundation.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415866" y="4809066"/>
            <a:ext cx="3318933" cy="999066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846735" y="4792134"/>
            <a:ext cx="457197" cy="4571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1E293B"/>
                </a:solidFill>
              </a:rPr>
              <a:t>80%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534400" y="5207000"/>
            <a:ext cx="11887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higher agentic AI accuracy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34400" y="5325533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1E293B"/>
                </a:solidFill>
              </a:rPr>
              <a:t>60% lower cost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34400" y="5469467"/>
            <a:ext cx="1178531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when organizations prioritize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534400" y="5588000"/>
            <a:ext cx="1097253" cy="121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semantics in AI-ready data.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34400" y="5715000"/>
            <a:ext cx="711180" cy="106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E293B"/>
                </a:solidFill>
              </a:rPr>
              <a:t>Gartner  ·  May 2026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noFill/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987076" y="6155267"/>
            <a:ext cx="6217848" cy="259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</a:rPr>
              <a:t>The agents building the foundation.  The foundation enabling the agents.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60840" y="6443133"/>
            <a:ext cx="447032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AI innovation applied to the domain of data — so data can power everything else.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02050" y="6747933"/>
            <a:ext cx="5587900" cy="16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What would your enterprise AI look like with a certified, governed data foundation ready on day one?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F416B58-C4EB-4BBC-AB2B-B10B279CC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87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9B9B0C1-59B4-716C-4CE0-47F462E74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03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7A8A62B-BAB1-2BC3-817F-BCFF8586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9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5433348-C3AD-BB0F-29AD-EC7EE37DC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9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F15C57F-8FF0-D84D-4041-7A2CFCA80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66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0C45F14-A0B3-9855-FE15-3539D75C6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42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D319454-E845-80F4-55BB-0A1D68063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16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B08796-C102-027D-8EF7-C014DB4D7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98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7282</Words>
  <Application>Microsoft Office PowerPoint</Application>
  <PresentationFormat>Widescreen</PresentationFormat>
  <Paragraphs>1386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Graphik</vt:lpstr>
      <vt:lpstr>Office Theme</vt:lpstr>
      <vt:lpstr>PowerPoint Presentation</vt:lpstr>
      <vt:lpstr>Data Workbench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Eyde, Niel C.</cp:lastModifiedBy>
  <cp:revision>6</cp:revision>
  <dcterms:created xsi:type="dcterms:W3CDTF">2013-01-27T09:14:16Z</dcterms:created>
  <dcterms:modified xsi:type="dcterms:W3CDTF">2026-06-17T15:17:59Z</dcterms:modified>
  <cp:category/>
</cp:coreProperties>
</file>